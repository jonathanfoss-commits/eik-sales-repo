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docs/pitch-investor.md. Statuslinjen står først med vilje — dokumentets egen åpning.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Ordrett fra docs/pitch-investor.md, innledningen. Ikke pynt på dette i rommet.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docs/pitch-investor.md kap. 1. Historiene skal presenteres som illustrasjoner.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docs/pitch-investor.md kap. 2a. Dette er den viktigste enkeltsaken i analysen.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docs/pitch-investor.md kap. 3, med filreferanser: server/frigivelse.js, server/migrations/, app/js/krypto.js, server/api/hvelv.js.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Demo-manus steg 1. Vis matrisen, ikke rediger den på mobil.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Demo-manus steg 4, høydepunktet. Karenstiden settes til 240 sekunder i demoen så nedtellingen når null i rommet.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docs/risiko-apent.md post 9 og docs/PRIORITERT-ROADMAP.md tiltak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docs/vollgraven.md. Hvert ledd må også kunne feile trygt: alt skjer i én transaksjon, en feil i vår egen kode gir null rader, ikke feil rader.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docs/pitch-investor.md kap. 2b. Dette avsnittet selger mer enn noe annet i demoen — det viser at vi har gjort leksa.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docs/pitch-investor.md kap. 2a og docs/risiko-apent.md post 7. Demo-manus steg 6 — avslutt 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docs/pitch-investor.md kap. 5 og docs/PARTNERE-OG-INNTEKTER.md. Vi bruker ingen markedstall vi ikke har verifisert.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docs/risiko-apent.md — full liste med ti poster, tiltak og frist per punkt.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Kilde: docs/pitch-investor.md kap.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INVESTORPITCH · 28. JULI 2026</a:t>
            </a:r>
            <a:endParaRPr lang="en-US" sz="1000" dirty="0"/>
          </a:p>
        </p:txBody>
      </p:sp>
      <p:sp>
        <p:nvSpPr>
          <p:cNvPr id="3" name="Text 1"/>
          <p:cNvSpPr/>
          <p:nvPr/>
        </p:nvSpPr>
        <p:spPr>
          <a:xfrm>
            <a:off x="685800" y="1234440"/>
            <a:ext cx="7498080" cy="1188720"/>
          </a:xfrm>
          <a:prstGeom prst="rect">
            <a:avLst/>
          </a:prstGeom>
          <a:noFill/>
          <a:ln/>
        </p:spPr>
        <p:txBody>
          <a:bodyPr wrap="square" lIns="0" tIns="0" rIns="0" bIns="0" rtlCol="0" anchor="ctr"/>
          <a:lstStyle/>
          <a:p>
            <a:pPr indent="0" marL="0">
              <a:buNone/>
            </a:pPr>
            <a:r>
              <a:rPr lang="en-US" sz="5400" b="1" dirty="0">
                <a:solidFill>
                  <a:srgbClr val="EDF2F0"/>
                </a:solidFill>
                <a:latin typeface="Georgia" pitchFamily="34" charset="0"/>
                <a:ea typeface="Georgia" pitchFamily="34" charset="-122"/>
                <a:cs typeface="Georgia" pitchFamily="34" charset="-120"/>
              </a:rPr>
              <a:t>Livsarkivet</a:t>
            </a:r>
            <a:endParaRPr lang="en-US" sz="5400" dirty="0"/>
          </a:p>
        </p:txBody>
      </p:sp>
      <p:sp>
        <p:nvSpPr>
          <p:cNvPr id="4" name="Text 2"/>
          <p:cNvSpPr/>
          <p:nvPr/>
        </p:nvSpPr>
        <p:spPr>
          <a:xfrm>
            <a:off x="685800" y="2560320"/>
            <a:ext cx="6766560" cy="1005840"/>
          </a:xfrm>
          <a:prstGeom prst="rect">
            <a:avLst/>
          </a:prstGeom>
          <a:noFill/>
          <a:ln/>
        </p:spPr>
        <p:txBody>
          <a:bodyPr wrap="square" lIns="0" tIns="0" rIns="0" bIns="0" rtlCol="0" anchor="t"/>
          <a:lstStyle/>
          <a:p>
            <a:pPr algn="l" indent="0" marL="0">
              <a:lnSpc>
                <a:spcPts val="2414"/>
              </a:lnSpc>
              <a:buNone/>
            </a:pPr>
            <a:r>
              <a:rPr lang="en-US" sz="1700" dirty="0">
                <a:solidFill>
                  <a:srgbClr val="9FB3AD"/>
                </a:solidFill>
                <a:latin typeface="Calibri" pitchFamily="34" charset="0"/>
                <a:ea typeface="Calibri" pitchFamily="34" charset="-122"/>
                <a:cs typeface="Calibri" pitchFamily="34" charset="-120"/>
              </a:rPr>
              <a:t>Ikke et sted å lagre. En mekanisme for å åpne — på riktig dag, for riktige personer, og aldri en dag for tidlig.</a:t>
            </a:r>
            <a:endParaRPr lang="en-US" sz="1700" dirty="0"/>
          </a:p>
        </p:txBody>
      </p:sp>
      <p:sp>
        <p:nvSpPr>
          <p:cNvPr id="5" name="Shape 3"/>
          <p:cNvSpPr/>
          <p:nvPr/>
        </p:nvSpPr>
        <p:spPr>
          <a:xfrm>
            <a:off x="685800" y="3977640"/>
            <a:ext cx="6766560" cy="1417320"/>
          </a:xfrm>
          <a:prstGeom prst="roundRect">
            <a:avLst>
              <a:gd name="adj" fmla="val 5806"/>
            </a:avLst>
          </a:prstGeom>
          <a:solidFill>
            <a:srgbClr val="16283A"/>
          </a:solidFill>
          <a:ln w="12700">
            <a:solidFill>
              <a:srgbClr val="27405A"/>
            </a:solidFill>
            <a:prstDash val="solid"/>
          </a:ln>
        </p:spPr>
      </p:sp>
      <p:sp>
        <p:nvSpPr>
          <p:cNvPr id="6" name="Text 4"/>
          <p:cNvSpPr/>
          <p:nvPr/>
        </p:nvSpPr>
        <p:spPr>
          <a:xfrm>
            <a:off x="1005840" y="4206240"/>
            <a:ext cx="6126480" cy="237744"/>
          </a:xfrm>
          <a:prstGeom prst="rect">
            <a:avLst/>
          </a:prstGeom>
          <a:noFill/>
          <a:ln/>
        </p:spPr>
        <p:txBody>
          <a:bodyPr wrap="square" lIns="0" tIns="0" rIns="0" bIns="0" rtlCol="0" anchor="ctr"/>
          <a:lstStyle/>
          <a:p>
            <a:pPr indent="0" marL="0">
              <a:buNone/>
            </a:pPr>
            <a:r>
              <a:rPr lang="en-US" sz="900" spc="200" kern="0" dirty="0">
                <a:solidFill>
                  <a:srgbClr val="D9B36B"/>
                </a:solidFill>
                <a:latin typeface="Courier New" pitchFamily="34" charset="0"/>
                <a:ea typeface="Courier New" pitchFamily="34" charset="-122"/>
                <a:cs typeface="Courier New" pitchFamily="34" charset="-120"/>
              </a:rPr>
              <a:t>STATUS 28.07.2026</a:t>
            </a:r>
            <a:endParaRPr lang="en-US" sz="900" dirty="0"/>
          </a:p>
        </p:txBody>
      </p:sp>
      <p:sp>
        <p:nvSpPr>
          <p:cNvPr id="7" name="Text 5"/>
          <p:cNvSpPr/>
          <p:nvPr/>
        </p:nvSpPr>
        <p:spPr>
          <a:xfrm>
            <a:off x="1005840" y="4553712"/>
            <a:ext cx="6126480" cy="731520"/>
          </a:xfrm>
          <a:prstGeom prst="rect">
            <a:avLst/>
          </a:prstGeom>
          <a:noFill/>
          <a:ln/>
        </p:spPr>
        <p:txBody>
          <a:bodyPr wrap="square" lIns="0" tIns="0" rIns="0" bIns="0" rtlCol="0" anchor="t"/>
          <a:lstStyle/>
          <a:p>
            <a:pPr algn="l" indent="0" marL="0">
              <a:lnSpc>
                <a:spcPts val="2272"/>
              </a:lnSpc>
              <a:buNone/>
            </a:pPr>
            <a:r>
              <a:rPr lang="en-US" sz="1600" b="1" dirty="0">
                <a:solidFill>
                  <a:srgbClr val="EDF2F0"/>
                </a:solidFill>
                <a:latin typeface="Calibri" pitchFamily="34" charset="0"/>
                <a:ea typeface="Calibri" pitchFamily="34" charset="-122"/>
                <a:cs typeface="Calibri" pitchFamily="34" charset="-120"/>
              </a:rPr>
              <a:t>Null brukere i produksjon. Null kroner i inntekt. Ingen pilot signert.</a:t>
            </a:r>
            <a:endParaRPr lang="en-US" sz="1600" dirty="0"/>
          </a:p>
        </p:txBody>
      </p:sp>
      <p:sp>
        <p:nvSpPr>
          <p:cNvPr id="8" name="Shape 6"/>
          <p:cNvSpPr/>
          <p:nvPr/>
        </p:nvSpPr>
        <p:spPr>
          <a:xfrm>
            <a:off x="8759952" y="1170432"/>
            <a:ext cx="2231136" cy="4572000"/>
          </a:xfrm>
          <a:prstGeom prst="roundRect">
            <a:avLst>
              <a:gd name="adj" fmla="val 4918"/>
            </a:avLst>
          </a:prstGeom>
          <a:solidFill>
            <a:srgbClr val="16283A"/>
          </a:solidFill>
          <a:ln w="12700">
            <a:solidFill>
              <a:srgbClr val="27405A"/>
            </a:solidFill>
            <a:prstDash val="solid"/>
          </a:ln>
        </p:spPr>
      </p:sp>
      <p:pic>
        <p:nvPicPr>
          <p:cNvPr id="9" name="Image 0" descr="/tmp/claude-0/-home-user-Eik-sales-repo/e4ee2b0e-596f-5b8f-87ca-a31b6f104195/scratchpad/dekk/status.png">    </p:cNvPr>
          <p:cNvPicPr>
            <a:picLocks noChangeAspect="1"/>
          </p:cNvPicPr>
          <p:nvPr/>
        </p:nvPicPr>
        <p:blipFill>
          <a:blip r:embed="rId1"/>
          <a:stretch>
            <a:fillRect/>
          </a:stretch>
        </p:blipFill>
        <p:spPr>
          <a:xfrm>
            <a:off x="8869680" y="1280160"/>
            <a:ext cx="2011680" cy="43525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LES DETTE FØRST</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2</a:t>
            </a:r>
            <a:endParaRPr lang="en-US" sz="900" dirty="0"/>
          </a:p>
        </p:txBody>
      </p:sp>
      <p:sp>
        <p:nvSpPr>
          <p:cNvPr id="4" name="Text 2"/>
          <p:cNvSpPr/>
          <p:nvPr/>
        </p:nvSpPr>
        <p:spPr>
          <a:xfrm>
            <a:off x="685800" y="1051560"/>
            <a:ext cx="10058400" cy="1737360"/>
          </a:xfrm>
          <a:prstGeom prst="rect">
            <a:avLst/>
          </a:prstGeom>
          <a:noFill/>
          <a:ln/>
        </p:spPr>
        <p:txBody>
          <a:bodyPr wrap="square" lIns="0" tIns="0" rIns="0" bIns="0" rtlCol="0" anchor="t"/>
          <a:lstStyle/>
          <a:p>
            <a:pPr indent="0" marL="0">
              <a:lnSpc>
                <a:spcPts val="5000"/>
              </a:lnSpc>
              <a:buNone/>
            </a:pPr>
            <a:r>
              <a:rPr lang="en-US" sz="4000" b="1" dirty="0">
                <a:solidFill>
                  <a:srgbClr val="EDF2F0"/>
                </a:solidFill>
                <a:latin typeface="Georgia" pitchFamily="34" charset="0"/>
                <a:ea typeface="Georgia" pitchFamily="34" charset="-122"/>
                <a:cs typeface="Georgia" pitchFamily="34" charset="-120"/>
              </a:rPr>
              <a:t>Vi har null brukere og</a:t>
            </a:r>
            <a:endParaRPr lang="en-US" sz="4000" dirty="0"/>
          </a:p>
          <a:p>
            <a:pPr indent="0" marL="0">
              <a:lnSpc>
                <a:spcPts val="5000"/>
              </a:lnSpc>
              <a:buNone/>
            </a:pPr>
            <a:r>
              <a:rPr lang="en-US" sz="4000" b="1" dirty="0">
                <a:solidFill>
                  <a:srgbClr val="EDF2F0"/>
                </a:solidFill>
                <a:latin typeface="Georgia" pitchFamily="34" charset="0"/>
                <a:ea typeface="Georgia" pitchFamily="34" charset="-122"/>
                <a:cs typeface="Georgia" pitchFamily="34" charset="-120"/>
              </a:rPr>
              <a:t>null kroner i inntekt.</a:t>
            </a:r>
            <a:endParaRPr lang="en-US" sz="4000" dirty="0"/>
          </a:p>
        </p:txBody>
      </p:sp>
      <p:sp>
        <p:nvSpPr>
          <p:cNvPr id="5" name="Text 3"/>
          <p:cNvSpPr/>
          <p:nvPr/>
        </p:nvSpPr>
        <p:spPr>
          <a:xfrm>
            <a:off x="685800" y="2971800"/>
            <a:ext cx="7863840" cy="1005840"/>
          </a:xfrm>
          <a:prstGeom prst="rect">
            <a:avLst/>
          </a:prstGeom>
          <a:noFill/>
          <a:ln/>
        </p:spPr>
        <p:txBody>
          <a:bodyPr wrap="square" lIns="0" tIns="0" rIns="0" bIns="0" rtlCol="0" anchor="t"/>
          <a:lstStyle/>
          <a:p>
            <a:pPr algn="l" indent="0" marL="0">
              <a:lnSpc>
                <a:spcPts val="2130"/>
              </a:lnSpc>
              <a:buNone/>
            </a:pPr>
            <a:r>
              <a:rPr lang="en-US" sz="1500" dirty="0">
                <a:solidFill>
                  <a:srgbClr val="9FB3AD"/>
                </a:solidFill>
                <a:latin typeface="Calibri" pitchFamily="34" charset="0"/>
                <a:ea typeface="Calibri" pitchFamily="34" charset="-122"/>
                <a:cs typeface="Calibri" pitchFamily="34" charset="-120"/>
              </a:rPr>
              <a:t>Ingen pilot er signert. Ingen partner har sagt ja. Det som finnes er et ferdig bygget og testet system, et researchgrunnlag, og et sett med samtaler som ennå ikke er avtaler.</a:t>
            </a:r>
            <a:endParaRPr lang="en-US" sz="1500" dirty="0"/>
          </a:p>
        </p:txBody>
      </p:sp>
      <p:sp>
        <p:nvSpPr>
          <p:cNvPr id="6" name="Text 4"/>
          <p:cNvSpPr/>
          <p:nvPr/>
        </p:nvSpPr>
        <p:spPr>
          <a:xfrm>
            <a:off x="685800" y="3977640"/>
            <a:ext cx="7863840" cy="365760"/>
          </a:xfrm>
          <a:prstGeom prst="rect">
            <a:avLst/>
          </a:prstGeom>
          <a:noFill/>
          <a:ln/>
        </p:spPr>
        <p:txBody>
          <a:bodyPr wrap="square" lIns="0" tIns="0" rIns="0" bIns="0" rtlCol="0" anchor="t"/>
          <a:lstStyle/>
          <a:p>
            <a:pPr algn="l" indent="0" marL="0">
              <a:lnSpc>
                <a:spcPts val="2130"/>
              </a:lnSpc>
              <a:buNone/>
            </a:pPr>
            <a:r>
              <a:rPr lang="en-US" sz="1500" dirty="0">
                <a:solidFill>
                  <a:srgbClr val="7FB7A3"/>
                </a:solidFill>
                <a:latin typeface="Calibri" pitchFamily="34" charset="0"/>
                <a:ea typeface="Calibri" pitchFamily="34" charset="-122"/>
                <a:cs typeface="Calibri" pitchFamily="34" charset="-120"/>
              </a:rPr>
              <a:t>Alt annet i dette dekket skal leses med det som utgangspunkt.</a:t>
            </a:r>
            <a:endParaRPr lang="en-US" sz="1500" dirty="0"/>
          </a:p>
        </p:txBody>
      </p:sp>
      <p:sp>
        <p:nvSpPr>
          <p:cNvPr id="7" name="Shape 5"/>
          <p:cNvSpPr/>
          <p:nvPr/>
        </p:nvSpPr>
        <p:spPr>
          <a:xfrm>
            <a:off x="685800" y="4709160"/>
            <a:ext cx="3419856" cy="1371600"/>
          </a:xfrm>
          <a:prstGeom prst="roundRect">
            <a:avLst>
              <a:gd name="adj" fmla="val 6000"/>
            </a:avLst>
          </a:prstGeom>
          <a:solidFill>
            <a:srgbClr val="16283A"/>
          </a:solidFill>
          <a:ln w="12700">
            <a:solidFill>
              <a:srgbClr val="27405A"/>
            </a:solidFill>
            <a:prstDash val="solid"/>
          </a:ln>
        </p:spPr>
      </p:sp>
      <p:sp>
        <p:nvSpPr>
          <p:cNvPr id="8" name="Text 6"/>
          <p:cNvSpPr/>
          <p:nvPr/>
        </p:nvSpPr>
        <p:spPr>
          <a:xfrm>
            <a:off x="1005840" y="4937760"/>
            <a:ext cx="914400" cy="914400"/>
          </a:xfrm>
          <a:prstGeom prst="rect">
            <a:avLst/>
          </a:prstGeom>
          <a:noFill/>
          <a:ln/>
        </p:spPr>
        <p:txBody>
          <a:bodyPr wrap="square" lIns="0" tIns="0" rIns="0" bIns="0" rtlCol="0" anchor="ctr"/>
          <a:lstStyle/>
          <a:p>
            <a:pPr indent="0" marL="0">
              <a:buNone/>
            </a:pPr>
            <a:r>
              <a:rPr lang="en-US" sz="4400" b="1" dirty="0">
                <a:solidFill>
                  <a:srgbClr val="D9B36B"/>
                </a:solidFill>
                <a:latin typeface="Georgia" pitchFamily="34" charset="0"/>
                <a:ea typeface="Georgia" pitchFamily="34" charset="-122"/>
                <a:cs typeface="Georgia" pitchFamily="34" charset="-120"/>
              </a:rPr>
              <a:t>0</a:t>
            </a:r>
            <a:endParaRPr lang="en-US" sz="4400" dirty="0"/>
          </a:p>
        </p:txBody>
      </p:sp>
      <p:sp>
        <p:nvSpPr>
          <p:cNvPr id="9" name="Text 7"/>
          <p:cNvSpPr/>
          <p:nvPr/>
        </p:nvSpPr>
        <p:spPr>
          <a:xfrm>
            <a:off x="1920240" y="4937760"/>
            <a:ext cx="1865376" cy="914400"/>
          </a:xfrm>
          <a:prstGeom prst="rect">
            <a:avLst/>
          </a:prstGeom>
          <a:noFill/>
          <a:ln/>
        </p:spPr>
        <p:txBody>
          <a:bodyPr wrap="square" lIns="0" tIns="0" rIns="0" bIns="0" rtlCol="0" anchor="ctr"/>
          <a:lstStyle/>
          <a:p>
            <a:pPr indent="0" marL="0">
              <a:buNone/>
            </a:pPr>
            <a:r>
              <a:rPr lang="en-US" sz="1300" dirty="0">
                <a:solidFill>
                  <a:srgbClr val="9FB3AD"/>
                </a:solidFill>
                <a:latin typeface="Calibri" pitchFamily="34" charset="0"/>
                <a:ea typeface="Calibri" pitchFamily="34" charset="-122"/>
                <a:cs typeface="Calibri" pitchFamily="34" charset="-120"/>
              </a:rPr>
              <a:t>brukere i produksjon</a:t>
            </a:r>
            <a:endParaRPr lang="en-US" sz="1300" dirty="0"/>
          </a:p>
        </p:txBody>
      </p:sp>
      <p:sp>
        <p:nvSpPr>
          <p:cNvPr id="10" name="Shape 8"/>
          <p:cNvSpPr/>
          <p:nvPr/>
        </p:nvSpPr>
        <p:spPr>
          <a:xfrm>
            <a:off x="4379976" y="4709160"/>
            <a:ext cx="3419856" cy="1371600"/>
          </a:xfrm>
          <a:prstGeom prst="roundRect">
            <a:avLst>
              <a:gd name="adj" fmla="val 6000"/>
            </a:avLst>
          </a:prstGeom>
          <a:solidFill>
            <a:srgbClr val="16283A"/>
          </a:solidFill>
          <a:ln w="12700">
            <a:solidFill>
              <a:srgbClr val="27405A"/>
            </a:solidFill>
            <a:prstDash val="solid"/>
          </a:ln>
        </p:spPr>
      </p:sp>
      <p:sp>
        <p:nvSpPr>
          <p:cNvPr id="11" name="Text 9"/>
          <p:cNvSpPr/>
          <p:nvPr/>
        </p:nvSpPr>
        <p:spPr>
          <a:xfrm>
            <a:off x="4700016" y="4937760"/>
            <a:ext cx="914400" cy="914400"/>
          </a:xfrm>
          <a:prstGeom prst="rect">
            <a:avLst/>
          </a:prstGeom>
          <a:noFill/>
          <a:ln/>
        </p:spPr>
        <p:txBody>
          <a:bodyPr wrap="square" lIns="0" tIns="0" rIns="0" bIns="0" rtlCol="0" anchor="ctr"/>
          <a:lstStyle/>
          <a:p>
            <a:pPr indent="0" marL="0">
              <a:buNone/>
            </a:pPr>
            <a:r>
              <a:rPr lang="en-US" sz="4400" b="1" dirty="0">
                <a:solidFill>
                  <a:srgbClr val="D9B36B"/>
                </a:solidFill>
                <a:latin typeface="Georgia" pitchFamily="34" charset="0"/>
                <a:ea typeface="Georgia" pitchFamily="34" charset="-122"/>
                <a:cs typeface="Georgia" pitchFamily="34" charset="-120"/>
              </a:rPr>
              <a:t>0</a:t>
            </a:r>
            <a:endParaRPr lang="en-US" sz="4400" dirty="0"/>
          </a:p>
        </p:txBody>
      </p:sp>
      <p:sp>
        <p:nvSpPr>
          <p:cNvPr id="12" name="Text 10"/>
          <p:cNvSpPr/>
          <p:nvPr/>
        </p:nvSpPr>
        <p:spPr>
          <a:xfrm>
            <a:off x="5614416" y="4937760"/>
            <a:ext cx="1865376" cy="914400"/>
          </a:xfrm>
          <a:prstGeom prst="rect">
            <a:avLst/>
          </a:prstGeom>
          <a:noFill/>
          <a:ln/>
        </p:spPr>
        <p:txBody>
          <a:bodyPr wrap="square" lIns="0" tIns="0" rIns="0" bIns="0" rtlCol="0" anchor="ctr"/>
          <a:lstStyle/>
          <a:p>
            <a:pPr indent="0" marL="0">
              <a:buNone/>
            </a:pPr>
            <a:r>
              <a:rPr lang="en-US" sz="1300" dirty="0">
                <a:solidFill>
                  <a:srgbClr val="9FB3AD"/>
                </a:solidFill>
                <a:latin typeface="Calibri" pitchFamily="34" charset="0"/>
                <a:ea typeface="Calibri" pitchFamily="34" charset="-122"/>
                <a:cs typeface="Calibri" pitchFamily="34" charset="-120"/>
              </a:rPr>
              <a:t>kroner i inntekt</a:t>
            </a:r>
            <a:endParaRPr lang="en-US" sz="1300" dirty="0"/>
          </a:p>
        </p:txBody>
      </p:sp>
      <p:sp>
        <p:nvSpPr>
          <p:cNvPr id="13" name="Shape 11"/>
          <p:cNvSpPr/>
          <p:nvPr/>
        </p:nvSpPr>
        <p:spPr>
          <a:xfrm>
            <a:off x="8074152" y="4709160"/>
            <a:ext cx="3419856" cy="1371600"/>
          </a:xfrm>
          <a:prstGeom prst="roundRect">
            <a:avLst>
              <a:gd name="adj" fmla="val 6000"/>
            </a:avLst>
          </a:prstGeom>
          <a:solidFill>
            <a:srgbClr val="16283A"/>
          </a:solidFill>
          <a:ln w="12700">
            <a:solidFill>
              <a:srgbClr val="27405A"/>
            </a:solidFill>
            <a:prstDash val="solid"/>
          </a:ln>
        </p:spPr>
      </p:sp>
      <p:sp>
        <p:nvSpPr>
          <p:cNvPr id="14" name="Text 12"/>
          <p:cNvSpPr/>
          <p:nvPr/>
        </p:nvSpPr>
        <p:spPr>
          <a:xfrm>
            <a:off x="8394192" y="4937760"/>
            <a:ext cx="914400" cy="914400"/>
          </a:xfrm>
          <a:prstGeom prst="rect">
            <a:avLst/>
          </a:prstGeom>
          <a:noFill/>
          <a:ln/>
        </p:spPr>
        <p:txBody>
          <a:bodyPr wrap="square" lIns="0" tIns="0" rIns="0" bIns="0" rtlCol="0" anchor="ctr"/>
          <a:lstStyle/>
          <a:p>
            <a:pPr indent="0" marL="0">
              <a:buNone/>
            </a:pPr>
            <a:r>
              <a:rPr lang="en-US" sz="4400" b="1" dirty="0">
                <a:solidFill>
                  <a:srgbClr val="D9B36B"/>
                </a:solidFill>
                <a:latin typeface="Georgia" pitchFamily="34" charset="0"/>
                <a:ea typeface="Georgia" pitchFamily="34" charset="-122"/>
                <a:cs typeface="Georgia" pitchFamily="34" charset="-120"/>
              </a:rPr>
              <a:t>0</a:t>
            </a:r>
            <a:endParaRPr lang="en-US" sz="4400" dirty="0"/>
          </a:p>
        </p:txBody>
      </p:sp>
      <p:sp>
        <p:nvSpPr>
          <p:cNvPr id="15" name="Text 13"/>
          <p:cNvSpPr/>
          <p:nvPr/>
        </p:nvSpPr>
        <p:spPr>
          <a:xfrm>
            <a:off x="9308592" y="4937760"/>
            <a:ext cx="1865376" cy="914400"/>
          </a:xfrm>
          <a:prstGeom prst="rect">
            <a:avLst/>
          </a:prstGeom>
          <a:noFill/>
          <a:ln/>
        </p:spPr>
        <p:txBody>
          <a:bodyPr wrap="square" lIns="0" tIns="0" rIns="0" bIns="0" rtlCol="0" anchor="ctr"/>
          <a:lstStyle/>
          <a:p>
            <a:pPr indent="0" marL="0">
              <a:buNone/>
            </a:pPr>
            <a:r>
              <a:rPr lang="en-US" sz="1300" dirty="0">
                <a:solidFill>
                  <a:srgbClr val="9FB3AD"/>
                </a:solidFill>
                <a:latin typeface="Calibri" pitchFamily="34" charset="0"/>
                <a:ea typeface="Calibri" pitchFamily="34" charset="-122"/>
                <a:cs typeface="Calibri" pitchFamily="34" charset="-120"/>
              </a:rPr>
              <a:t>signerte avtaler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PROBLEMET</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3</a:t>
            </a:r>
            <a:endParaRPr lang="en-US" sz="900" dirty="0"/>
          </a:p>
        </p:txBody>
      </p:sp>
      <p:sp>
        <p:nvSpPr>
          <p:cNvPr id="4" name="Text 2"/>
          <p:cNvSpPr/>
          <p:nvPr/>
        </p:nvSpPr>
        <p:spPr>
          <a:xfrm>
            <a:off x="685800" y="868680"/>
            <a:ext cx="10058400" cy="868680"/>
          </a:xfrm>
          <a:prstGeom prst="rect">
            <a:avLst/>
          </a:prstGeom>
          <a:noFill/>
          <a:ln/>
        </p:spPr>
        <p:txBody>
          <a:bodyPr wrap="square" lIns="0" tIns="0" rIns="0" bIns="0" rtlCol="0" anchor="t"/>
          <a:lstStyle/>
          <a:p>
            <a:pPr indent="0" marL="0">
              <a:lnSpc>
                <a:spcPts val="3540"/>
              </a:lnSpc>
              <a:buNone/>
            </a:pPr>
            <a:r>
              <a:rPr lang="en-US" sz="3000" b="1" dirty="0">
                <a:solidFill>
                  <a:srgbClr val="EDF2F0"/>
                </a:solidFill>
                <a:latin typeface="Georgia" pitchFamily="34" charset="0"/>
                <a:ea typeface="Georgia" pitchFamily="34" charset="-122"/>
                <a:cs typeface="Georgia" pitchFamily="34" charset="-120"/>
              </a:rPr>
              <a:t>Familien mister sjelden informasjonen.</a:t>
            </a:r>
            <a:endParaRPr lang="en-US" sz="3000" dirty="0"/>
          </a:p>
          <a:p>
            <a:pPr indent="0" marL="0">
              <a:lnSpc>
                <a:spcPts val="3540"/>
              </a:lnSpc>
              <a:buNone/>
            </a:pPr>
            <a:r>
              <a:rPr lang="en-US" sz="3000" b="1" dirty="0">
                <a:solidFill>
                  <a:srgbClr val="EDF2F0"/>
                </a:solidFill>
                <a:latin typeface="Georgia" pitchFamily="34" charset="0"/>
                <a:ea typeface="Georgia" pitchFamily="34" charset="-122"/>
                <a:cs typeface="Georgia" pitchFamily="34" charset="-120"/>
              </a:rPr>
              <a:t>De mister tilgangen.</a:t>
            </a:r>
            <a:endParaRPr lang="en-US" sz="3000" dirty="0"/>
          </a:p>
        </p:txBody>
      </p:sp>
      <p:sp>
        <p:nvSpPr>
          <p:cNvPr id="5" name="Text 3"/>
          <p:cNvSpPr/>
          <p:nvPr/>
        </p:nvSpPr>
        <p:spPr>
          <a:xfrm>
            <a:off x="685800" y="2423160"/>
            <a:ext cx="5852160" cy="1554480"/>
          </a:xfrm>
          <a:prstGeom prst="rect">
            <a:avLst/>
          </a:prstGeom>
          <a:noFill/>
          <a:ln/>
        </p:spPr>
        <p:txBody>
          <a:bodyPr wrap="square" lIns="0" tIns="0" rIns="0" bIns="0" rtlCol="0" anchor="t"/>
          <a:lstStyle/>
          <a:p>
            <a:pPr algn="l" indent="0" marL="0">
              <a:lnSpc>
                <a:spcPts val="2130"/>
              </a:lnSpc>
              <a:buNone/>
            </a:pPr>
            <a:r>
              <a:rPr lang="en-US" sz="1500" dirty="0">
                <a:solidFill>
                  <a:srgbClr val="EDF2F0"/>
                </a:solidFill>
                <a:latin typeface="Calibri" pitchFamily="34" charset="0"/>
                <a:ea typeface="Calibri" pitchFamily="34" charset="-122"/>
                <a:cs typeface="Calibri" pitchFamily="34" charset="-120"/>
              </a:rPr>
              <a:t>Passordet til telefonen. Hvilken bank kontoen står i. Om det finnes et testament, og hvor originalen ligger. Hvem som skal ha hytta. Om han hadde en livsforsikring gjennom fagforeningen. Hvor nøkkelen til boden er. Hva han ville sagt til barnebarna.</a:t>
            </a:r>
            <a:endParaRPr lang="en-US" sz="1500" dirty="0"/>
          </a:p>
        </p:txBody>
      </p:sp>
      <p:sp>
        <p:nvSpPr>
          <p:cNvPr id="6" name="Text 4"/>
          <p:cNvSpPr/>
          <p:nvPr/>
        </p:nvSpPr>
        <p:spPr>
          <a:xfrm>
            <a:off x="685800" y="4114800"/>
            <a:ext cx="5852160" cy="237744"/>
          </a:xfrm>
          <a:prstGeom prst="rect">
            <a:avLst/>
          </a:prstGeom>
          <a:noFill/>
          <a:ln/>
        </p:spPr>
        <p:txBody>
          <a:bodyPr wrap="square" lIns="0" tIns="0" rIns="0" bIns="0" rtlCol="0" anchor="ctr"/>
          <a:lstStyle/>
          <a:p>
            <a:pPr indent="0" marL="0">
              <a:buNone/>
            </a:pPr>
            <a:r>
              <a:rPr lang="en-US" sz="900" spc="160" kern="0" dirty="0">
                <a:solidFill>
                  <a:srgbClr val="7FB7A3"/>
                </a:solidFill>
                <a:latin typeface="Courier New" pitchFamily="34" charset="0"/>
                <a:ea typeface="Courier New" pitchFamily="34" charset="-122"/>
                <a:cs typeface="Courier New" pitchFamily="34" charset="-120"/>
              </a:rPr>
              <a:t>FIRE HISTORIER SOM GIKK IGJEN I RESEARCHEN</a:t>
            </a:r>
            <a:endParaRPr lang="en-US" sz="900" dirty="0"/>
          </a:p>
        </p:txBody>
      </p:sp>
      <p:sp>
        <p:nvSpPr>
          <p:cNvPr id="7" name="Text 5"/>
          <p:cNvSpPr/>
          <p:nvPr/>
        </p:nvSpPr>
        <p:spPr>
          <a:xfrm>
            <a:off x="822960" y="4480560"/>
            <a:ext cx="5715000" cy="146304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200" dirty="0">
                <a:solidFill>
                  <a:srgbClr val="9FB3AD"/>
                </a:solidFill>
                <a:latin typeface="Calibri" pitchFamily="34" charset="0"/>
                <a:ea typeface="Calibri" pitchFamily="34" charset="-122"/>
                <a:cs typeface="Calibri" pitchFamily="34" charset="-120"/>
              </a:rPr>
              <a:t>Familien mister på én dag tilgang til kredittkort, strøm, bank, pensjon og medlemskap fordi far håndterte alt.</a:t>
            </a:r>
            <a:endParaRPr lang="en-US" sz="1200" dirty="0"/>
          </a:p>
          <a:p>
            <a:pPr marL="342900" indent="-342900">
              <a:lnSpc>
                <a:spcPts val="1600"/>
              </a:lnSpc>
              <a:spcAft>
                <a:spcPts val="600"/>
              </a:spcAft>
              <a:buSzPct val="100000"/>
              <a:buChar char="•"/>
            </a:pPr>
            <a:r>
              <a:rPr lang="en-US" sz="1200" dirty="0">
                <a:solidFill>
                  <a:srgbClr val="9FB3AD"/>
                </a:solidFill>
                <a:latin typeface="Calibri" pitchFamily="34" charset="0"/>
                <a:ea typeface="Calibri" pitchFamily="34" charset="-122"/>
                <a:cs typeface="Calibri" pitchFamily="34" charset="-120"/>
              </a:rPr>
              <a:t>Familiebilder låst i en skytjeneste som nekter tilgang med henvisning til personvern, og som senere sletter kontoen for inaktivitet.</a:t>
            </a:r>
            <a:endParaRPr lang="en-US" sz="1200" dirty="0"/>
          </a:p>
          <a:p>
            <a:pPr marL="342900" indent="-342900">
              <a:lnSpc>
                <a:spcPts val="1600"/>
              </a:lnSpc>
              <a:spcAft>
                <a:spcPts val="600"/>
              </a:spcAft>
              <a:buSzPct val="100000"/>
              <a:buChar char="•"/>
            </a:pPr>
            <a:r>
              <a:rPr lang="en-US" sz="1200" dirty="0">
                <a:solidFill>
                  <a:srgbClr val="9FB3AD"/>
                </a:solidFill>
                <a:latin typeface="Calibri" pitchFamily="34" charset="0"/>
                <a:ea typeface="Calibri" pitchFamily="34" charset="-122"/>
                <a:cs typeface="Calibri" pitchFamily="34" charset="-120"/>
              </a:rPr>
              <a:t>Fem måneder og en advokat for å få kopier av en avdød sønns e-post.</a:t>
            </a:r>
            <a:endParaRPr lang="en-US" sz="1200" dirty="0"/>
          </a:p>
        </p:txBody>
      </p:sp>
      <p:sp>
        <p:nvSpPr>
          <p:cNvPr id="8" name="Shape 6"/>
          <p:cNvSpPr/>
          <p:nvPr/>
        </p:nvSpPr>
        <p:spPr>
          <a:xfrm>
            <a:off x="6949440" y="2377440"/>
            <a:ext cx="4553712" cy="1965960"/>
          </a:xfrm>
          <a:prstGeom prst="roundRect">
            <a:avLst>
              <a:gd name="adj" fmla="val 4186"/>
            </a:avLst>
          </a:prstGeom>
          <a:solidFill>
            <a:srgbClr val="16283A"/>
          </a:solidFill>
          <a:ln w="12700">
            <a:solidFill>
              <a:srgbClr val="27405A"/>
            </a:solidFill>
            <a:prstDash val="solid"/>
          </a:ln>
        </p:spPr>
      </p:sp>
      <p:sp>
        <p:nvSpPr>
          <p:cNvPr id="9" name="Text 7"/>
          <p:cNvSpPr/>
          <p:nvPr/>
        </p:nvSpPr>
        <p:spPr>
          <a:xfrm>
            <a:off x="7269480" y="2697480"/>
            <a:ext cx="3931920" cy="1371600"/>
          </a:xfrm>
          <a:prstGeom prst="rect">
            <a:avLst/>
          </a:prstGeom>
          <a:noFill/>
          <a:ln/>
        </p:spPr>
        <p:txBody>
          <a:bodyPr wrap="square" lIns="0" tIns="0" rIns="0" bIns="0" rtlCol="0" anchor="t"/>
          <a:lstStyle/>
          <a:p>
            <a:pPr algn="l" indent="0" marL="0">
              <a:lnSpc>
                <a:spcPts val="2130"/>
              </a:lnSpc>
              <a:buNone/>
            </a:pPr>
            <a:r>
              <a:rPr lang="en-US" sz="1500" i="1" dirty="0">
                <a:solidFill>
                  <a:srgbClr val="EDF2F0"/>
                </a:solidFill>
                <a:latin typeface="Georgia" pitchFamily="34" charset="0"/>
                <a:ea typeface="Georgia" pitchFamily="34" charset="-122"/>
                <a:cs typeface="Georgia" pitchFamily="34" charset="-120"/>
              </a:rPr>
              <a:t>Dette er ikke registerdata. Det står ikke i Folkeregisteret, ikke i Kartverket, ikke i Brønnøysund. Det står i hodet til én person, og den personen er død.</a:t>
            </a:r>
            <a:endParaRPr lang="en-US" sz="1500" dirty="0"/>
          </a:p>
        </p:txBody>
      </p:sp>
      <p:sp>
        <p:nvSpPr>
          <p:cNvPr id="10" name="Shape 8"/>
          <p:cNvSpPr/>
          <p:nvPr/>
        </p:nvSpPr>
        <p:spPr>
          <a:xfrm>
            <a:off x="6949440" y="4526280"/>
            <a:ext cx="4553712" cy="1417320"/>
          </a:xfrm>
          <a:prstGeom prst="roundRect">
            <a:avLst>
              <a:gd name="adj" fmla="val 5806"/>
            </a:avLst>
          </a:prstGeom>
          <a:solidFill>
            <a:srgbClr val="16283A"/>
          </a:solidFill>
          <a:ln w="12700">
            <a:solidFill>
              <a:srgbClr val="27405A"/>
            </a:solidFill>
            <a:prstDash val="solid"/>
          </a:ln>
        </p:spPr>
      </p:sp>
      <p:sp>
        <p:nvSpPr>
          <p:cNvPr id="11" name="Text 9"/>
          <p:cNvSpPr/>
          <p:nvPr/>
        </p:nvSpPr>
        <p:spPr>
          <a:xfrm>
            <a:off x="7269480" y="4754880"/>
            <a:ext cx="3931920" cy="237744"/>
          </a:xfrm>
          <a:prstGeom prst="rect">
            <a:avLst/>
          </a:prstGeom>
          <a:noFill/>
          <a:ln/>
        </p:spPr>
        <p:txBody>
          <a:bodyPr wrap="square" lIns="0" tIns="0" rIns="0" bIns="0" rtlCol="0" anchor="ctr"/>
          <a:lstStyle/>
          <a:p>
            <a:pPr indent="0" marL="0">
              <a:buNone/>
            </a:pPr>
            <a:r>
              <a:rPr lang="en-US" sz="900" spc="160" kern="0" dirty="0">
                <a:solidFill>
                  <a:srgbClr val="D9B36B"/>
                </a:solidFill>
                <a:latin typeface="Courier New" pitchFamily="34" charset="0"/>
                <a:ea typeface="Courier New" pitchFamily="34" charset="-122"/>
                <a:cs typeface="Courier New" pitchFamily="34" charset="-120"/>
              </a:rPr>
              <a:t>SPØRSMÅLET SOM GÅR IGJEN</a:t>
            </a:r>
            <a:endParaRPr lang="en-US" sz="900" dirty="0"/>
          </a:p>
        </p:txBody>
      </p:sp>
      <p:sp>
        <p:nvSpPr>
          <p:cNvPr id="12" name="Text 10"/>
          <p:cNvSpPr/>
          <p:nvPr/>
        </p:nvSpPr>
        <p:spPr>
          <a:xfrm>
            <a:off x="7269480" y="5074920"/>
            <a:ext cx="3931920" cy="685800"/>
          </a:xfrm>
          <a:prstGeom prst="rect">
            <a:avLst/>
          </a:prstGeom>
          <a:noFill/>
          <a:ln/>
        </p:spPr>
        <p:txBody>
          <a:bodyPr wrap="square" lIns="0" tIns="0" rIns="0" bIns="0" rtlCol="0" anchor="t"/>
          <a:lstStyle/>
          <a:p>
            <a:pPr algn="l" indent="0" marL="0">
              <a:lnSpc>
                <a:spcPts val="2130"/>
              </a:lnSpc>
              <a:buNone/>
            </a:pPr>
            <a:r>
              <a:rPr lang="en-US" sz="1500" b="1" dirty="0">
                <a:solidFill>
                  <a:srgbClr val="EDF2F0"/>
                </a:solidFill>
                <a:latin typeface="Calibri" pitchFamily="34" charset="0"/>
                <a:ea typeface="Calibri" pitchFamily="34" charset="-122"/>
                <a:cs typeface="Calibri" pitchFamily="34" charset="-120"/>
              </a:rPr>
              <a:t>«Hvor lenge finnes selskapet jeg legger dette hos?»</a:t>
            </a:r>
            <a:endParaRPr lang="en-US" sz="1500" dirty="0"/>
          </a:p>
        </p:txBody>
      </p:sp>
      <p:sp>
        <p:nvSpPr>
          <p:cNvPr id="13" name="Text 11"/>
          <p:cNvSpPr/>
          <p:nvPr/>
        </p:nvSpPr>
        <p:spPr>
          <a:xfrm>
            <a:off x="685800" y="6263640"/>
            <a:ext cx="10180015" cy="411480"/>
          </a:xfrm>
          <a:prstGeom prst="rect">
            <a:avLst/>
          </a:prstGeom>
          <a:noFill/>
          <a:ln/>
        </p:spPr>
        <p:txBody>
          <a:bodyPr wrap="square" lIns="0" tIns="0" rIns="0" bIns="0" rtlCol="0" anchor="t"/>
          <a:lstStyle/>
          <a:p>
            <a:pPr indent="0" marL="0">
              <a:lnSpc>
                <a:spcPts val="1200"/>
              </a:lnSpc>
              <a:buNone/>
            </a:pPr>
            <a:r>
              <a:rPr lang="en-US" sz="900" dirty="0">
                <a:solidFill>
                  <a:srgbClr val="6E8794"/>
                </a:solidFill>
                <a:latin typeface="Calibri" pitchFamily="34" charset="0"/>
                <a:ea typeface="Calibri" pitchFamily="34" charset="-122"/>
                <a:cs typeface="Calibri" pitchFamily="34" charset="-120"/>
              </a:rPr>
              <a:t>Historiene er hentet fra sekundærkilder (docs/RESEARCH-NYE-TJENESTER.md, 28.07.2026). De er illustrasjoner, ikke bevis.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HVORFOR NÅ</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4</a:t>
            </a:r>
            <a:endParaRPr lang="en-US" sz="900" dirty="0"/>
          </a:p>
        </p:txBody>
      </p:sp>
      <p:sp>
        <p:nvSpPr>
          <p:cNvPr id="4" name="Text 2"/>
          <p:cNvSpPr/>
          <p:nvPr/>
        </p:nvSpPr>
        <p:spPr>
          <a:xfrm>
            <a:off x="685800" y="868680"/>
            <a:ext cx="10058400" cy="868680"/>
          </a:xfrm>
          <a:prstGeom prst="rect">
            <a:avLst/>
          </a:prstGeom>
          <a:noFill/>
          <a:ln/>
        </p:spPr>
        <p:txBody>
          <a:bodyPr wrap="square" lIns="0" tIns="0" rIns="0" bIns="0" rtlCol="0" anchor="t"/>
          <a:lstStyle/>
          <a:p>
            <a:pPr indent="0" marL="0">
              <a:lnSpc>
                <a:spcPts val="3540"/>
              </a:lnSpc>
              <a:buNone/>
            </a:pPr>
            <a:r>
              <a:rPr lang="en-US" sz="3000" b="1" dirty="0">
                <a:solidFill>
                  <a:srgbClr val="EDF2F0"/>
                </a:solidFill>
                <a:latin typeface="Georgia" pitchFamily="34" charset="0"/>
                <a:ea typeface="Georgia" pitchFamily="34" charset="-122"/>
                <a:cs typeface="Georgia" pitchFamily="34" charset="-120"/>
              </a:rPr>
              <a:t>Cake — beviset på at spørsmålet er reelt</a:t>
            </a:r>
            <a:endParaRPr lang="en-US" sz="3000" dirty="0"/>
          </a:p>
        </p:txBody>
      </p:sp>
      <p:sp>
        <p:nvSpPr>
          <p:cNvPr id="5" name="Text 3"/>
          <p:cNvSpPr/>
          <p:nvPr/>
        </p:nvSpPr>
        <p:spPr>
          <a:xfrm>
            <a:off x="685800" y="1874520"/>
            <a:ext cx="10058400" cy="365760"/>
          </a:xfrm>
          <a:prstGeom prst="rect">
            <a:avLst/>
          </a:prstGeom>
          <a:noFill/>
          <a:ln/>
        </p:spPr>
        <p:txBody>
          <a:bodyPr wrap="square" lIns="0" tIns="0" rIns="0" bIns="0" rtlCol="0" anchor="t"/>
          <a:lstStyle/>
          <a:p>
            <a:pPr algn="l" indent="0" marL="0">
              <a:lnSpc>
                <a:spcPts val="2130"/>
              </a:lnSpc>
              <a:buNone/>
            </a:pPr>
            <a:r>
              <a:rPr lang="en-US" sz="1500" dirty="0">
                <a:solidFill>
                  <a:srgbClr val="9FB3AD"/>
                </a:solidFill>
                <a:latin typeface="Calibri" pitchFamily="34" charset="0"/>
                <a:ea typeface="Calibri" pitchFamily="34" charset="-122"/>
                <a:cs typeface="Calibri" pitchFamily="34" charset="-120"/>
              </a:rPr>
              <a:t>Cake var den mest kjente dødsplanleggings-tjenesten i USA.</a:t>
            </a:r>
            <a:endParaRPr lang="en-US" sz="1500" dirty="0"/>
          </a:p>
        </p:txBody>
      </p:sp>
      <p:sp>
        <p:nvSpPr>
          <p:cNvPr id="6" name="Shape 4"/>
          <p:cNvSpPr/>
          <p:nvPr/>
        </p:nvSpPr>
        <p:spPr>
          <a:xfrm>
            <a:off x="685800" y="2423160"/>
            <a:ext cx="5349240" cy="1371600"/>
          </a:xfrm>
          <a:prstGeom prst="roundRect">
            <a:avLst>
              <a:gd name="adj" fmla="val 6000"/>
            </a:avLst>
          </a:prstGeom>
          <a:solidFill>
            <a:srgbClr val="16283A"/>
          </a:solidFill>
          <a:ln w="12700">
            <a:solidFill>
              <a:srgbClr val="27405A"/>
            </a:solidFill>
            <a:prstDash val="solid"/>
          </a:ln>
        </p:spPr>
      </p:sp>
      <p:sp>
        <p:nvSpPr>
          <p:cNvPr id="7" name="Text 5"/>
          <p:cNvSpPr/>
          <p:nvPr/>
        </p:nvSpPr>
        <p:spPr>
          <a:xfrm>
            <a:off x="1005840" y="2670048"/>
            <a:ext cx="4709160" cy="256032"/>
          </a:xfrm>
          <a:prstGeom prst="rect">
            <a:avLst/>
          </a:prstGeom>
          <a:noFill/>
          <a:ln/>
        </p:spPr>
        <p:txBody>
          <a:bodyPr wrap="square" lIns="0" tIns="0" rIns="0" bIns="0" rtlCol="0" anchor="ctr"/>
          <a:lstStyle/>
          <a:p>
            <a:pPr indent="0" marL="0">
              <a:buNone/>
            </a:pPr>
            <a:r>
              <a:rPr lang="en-US" sz="1000" spc="200" kern="0" dirty="0">
                <a:solidFill>
                  <a:srgbClr val="D9B36B"/>
                </a:solidFill>
                <a:latin typeface="Courier New" pitchFamily="34" charset="0"/>
                <a:ea typeface="Courier New" pitchFamily="34" charset="-122"/>
                <a:cs typeface="Courier New" pitchFamily="34" charset="-120"/>
              </a:rPr>
              <a:t>SEPTEMBER 2024</a:t>
            </a:r>
            <a:endParaRPr lang="en-US" sz="1000" dirty="0"/>
          </a:p>
        </p:txBody>
      </p:sp>
      <p:sp>
        <p:nvSpPr>
          <p:cNvPr id="8" name="Text 6"/>
          <p:cNvSpPr/>
          <p:nvPr/>
        </p:nvSpPr>
        <p:spPr>
          <a:xfrm>
            <a:off x="1005840" y="3017520"/>
            <a:ext cx="4709160" cy="685800"/>
          </a:xfrm>
          <a:prstGeom prst="rect">
            <a:avLst/>
          </a:prstGeom>
          <a:noFill/>
          <a:ln/>
        </p:spPr>
        <p:txBody>
          <a:bodyPr wrap="square" lIns="0" tIns="0" rIns="0" bIns="0" rtlCol="0" anchor="t"/>
          <a:lstStyle/>
          <a:p>
            <a:pPr algn="l" indent="0" marL="0">
              <a:lnSpc>
                <a:spcPts val="1988"/>
              </a:lnSpc>
              <a:buNone/>
            </a:pPr>
            <a:r>
              <a:rPr lang="en-US" sz="1400" dirty="0">
                <a:solidFill>
                  <a:srgbClr val="EDF2F0"/>
                </a:solidFill>
                <a:latin typeface="Calibri" pitchFamily="34" charset="0"/>
                <a:ea typeface="Calibri" pitchFamily="34" charset="-122"/>
                <a:cs typeface="Calibri" pitchFamily="34" charset="-120"/>
              </a:rPr>
              <a:t>Foundation Partners Group, et begravelseskonsern, kjøper selskapet.</a:t>
            </a:r>
            <a:endParaRPr lang="en-US" sz="1400" dirty="0"/>
          </a:p>
        </p:txBody>
      </p:sp>
      <p:sp>
        <p:nvSpPr>
          <p:cNvPr id="9" name="Shape 7"/>
          <p:cNvSpPr/>
          <p:nvPr/>
        </p:nvSpPr>
        <p:spPr>
          <a:xfrm>
            <a:off x="6291072" y="2423160"/>
            <a:ext cx="5349240" cy="1371600"/>
          </a:xfrm>
          <a:prstGeom prst="roundRect">
            <a:avLst>
              <a:gd name="adj" fmla="val 6000"/>
            </a:avLst>
          </a:prstGeom>
          <a:solidFill>
            <a:srgbClr val="16283A"/>
          </a:solidFill>
          <a:ln w="12700">
            <a:solidFill>
              <a:srgbClr val="27405A"/>
            </a:solidFill>
            <a:prstDash val="solid"/>
          </a:ln>
        </p:spPr>
      </p:sp>
      <p:sp>
        <p:nvSpPr>
          <p:cNvPr id="10" name="Text 8"/>
          <p:cNvSpPr/>
          <p:nvPr/>
        </p:nvSpPr>
        <p:spPr>
          <a:xfrm>
            <a:off x="6611112" y="2670048"/>
            <a:ext cx="4709160" cy="256032"/>
          </a:xfrm>
          <a:prstGeom prst="rect">
            <a:avLst/>
          </a:prstGeom>
          <a:noFill/>
          <a:ln/>
        </p:spPr>
        <p:txBody>
          <a:bodyPr wrap="square" lIns="0" tIns="0" rIns="0" bIns="0" rtlCol="0" anchor="ctr"/>
          <a:lstStyle/>
          <a:p>
            <a:pPr indent="0" marL="0">
              <a:buNone/>
            </a:pPr>
            <a:r>
              <a:rPr lang="en-US" sz="1000" spc="200" kern="0" dirty="0">
                <a:solidFill>
                  <a:srgbClr val="D9777B"/>
                </a:solidFill>
                <a:latin typeface="Courier New" pitchFamily="34" charset="0"/>
                <a:ea typeface="Courier New" pitchFamily="34" charset="-122"/>
                <a:cs typeface="Courier New" pitchFamily="34" charset="-120"/>
              </a:rPr>
              <a:t>15. JUNI 2025</a:t>
            </a:r>
            <a:endParaRPr lang="en-US" sz="1000" dirty="0"/>
          </a:p>
        </p:txBody>
      </p:sp>
      <p:sp>
        <p:nvSpPr>
          <p:cNvPr id="11" name="Text 9"/>
          <p:cNvSpPr/>
          <p:nvPr/>
        </p:nvSpPr>
        <p:spPr>
          <a:xfrm>
            <a:off x="6611112" y="3017520"/>
            <a:ext cx="4709160" cy="685800"/>
          </a:xfrm>
          <a:prstGeom prst="rect">
            <a:avLst/>
          </a:prstGeom>
          <a:noFill/>
          <a:ln/>
        </p:spPr>
        <p:txBody>
          <a:bodyPr wrap="square" lIns="0" tIns="0" rIns="0" bIns="0" rtlCol="0" anchor="t"/>
          <a:lstStyle/>
          <a:p>
            <a:pPr algn="l" indent="0" marL="0">
              <a:lnSpc>
                <a:spcPts val="1988"/>
              </a:lnSpc>
              <a:buNone/>
            </a:pPr>
            <a:r>
              <a:rPr lang="en-US" sz="1400" dirty="0">
                <a:solidFill>
                  <a:srgbClr val="EDF2F0"/>
                </a:solidFill>
                <a:latin typeface="Calibri" pitchFamily="34" charset="0"/>
                <a:ea typeface="Calibri" pitchFamily="34" charset="-122"/>
                <a:cs typeface="Calibri" pitchFamily="34" charset="-120"/>
              </a:rPr>
              <a:t>Innlogging og nedlasting slutter å virke. Gjenværende brukerdata slettes.</a:t>
            </a:r>
            <a:endParaRPr lang="en-US" sz="1400" dirty="0"/>
          </a:p>
        </p:txBody>
      </p:sp>
      <p:sp>
        <p:nvSpPr>
          <p:cNvPr id="12" name="Text 10"/>
          <p:cNvSpPr/>
          <p:nvPr/>
        </p:nvSpPr>
        <p:spPr>
          <a:xfrm>
            <a:off x="685800" y="4069080"/>
            <a:ext cx="10058400" cy="237744"/>
          </a:xfrm>
          <a:prstGeom prst="rect">
            <a:avLst/>
          </a:prstGeom>
          <a:noFill/>
          <a:ln/>
        </p:spPr>
        <p:txBody>
          <a:bodyPr wrap="square" lIns="0" tIns="0" rIns="0" bIns="0" rtlCol="0" anchor="ctr"/>
          <a:lstStyle/>
          <a:p>
            <a:pPr indent="0" marL="0">
              <a:buNone/>
            </a:pPr>
            <a:r>
              <a:rPr lang="en-US" sz="900" spc="160" kern="0" dirty="0">
                <a:solidFill>
                  <a:srgbClr val="7FB7A3"/>
                </a:solidFill>
                <a:latin typeface="Courier New" pitchFamily="34" charset="0"/>
                <a:ea typeface="Courier New" pitchFamily="34" charset="-122"/>
                <a:cs typeface="Courier New" pitchFamily="34" charset="-120"/>
              </a:rPr>
              <a:t>DET SIER TO TING</a:t>
            </a:r>
            <a:endParaRPr lang="en-US" sz="900" dirty="0"/>
          </a:p>
        </p:txBody>
      </p:sp>
      <p:sp>
        <p:nvSpPr>
          <p:cNvPr id="13" name="Text 11"/>
          <p:cNvSpPr/>
          <p:nvPr/>
        </p:nvSpPr>
        <p:spPr>
          <a:xfrm>
            <a:off x="685800" y="4434840"/>
            <a:ext cx="4572000" cy="548640"/>
          </a:xfrm>
          <a:prstGeom prst="rect">
            <a:avLst/>
          </a:prstGeom>
          <a:noFill/>
          <a:ln/>
        </p:spPr>
        <p:txBody>
          <a:bodyPr wrap="square" lIns="0" tIns="0" rIns="0" bIns="0" rtlCol="0" anchor="t"/>
          <a:lstStyle/>
          <a:p>
            <a:pPr algn="l" indent="0" marL="0">
              <a:lnSpc>
                <a:spcPts val="1988"/>
              </a:lnSpc>
              <a:buNone/>
            </a:pPr>
            <a:r>
              <a:rPr lang="en-US" sz="1400" b="1" dirty="0">
                <a:solidFill>
                  <a:srgbClr val="EDF2F0"/>
                </a:solidFill>
                <a:latin typeface="Calibri" pitchFamily="34" charset="0"/>
                <a:ea typeface="Calibri" pitchFamily="34" charset="-122"/>
                <a:cs typeface="Calibri" pitchFamily="34" charset="-120"/>
              </a:rPr>
              <a:t>«Finnes dere om 20 år?» er et legitimt spørsmål.</a:t>
            </a:r>
            <a:endParaRPr lang="en-US" sz="1400" dirty="0"/>
          </a:p>
        </p:txBody>
      </p:sp>
      <p:sp>
        <p:nvSpPr>
          <p:cNvPr id="14" name="Text 12"/>
          <p:cNvSpPr/>
          <p:nvPr/>
        </p:nvSpPr>
        <p:spPr>
          <a:xfrm>
            <a:off x="5440680" y="4434840"/>
            <a:ext cx="6035040" cy="777240"/>
          </a:xfrm>
          <a:prstGeom prst="rect">
            <a:avLst/>
          </a:prstGeom>
          <a:noFill/>
          <a:ln/>
        </p:spPr>
        <p:txBody>
          <a:bodyPr wrap="square" lIns="0" tIns="0" rIns="0" bIns="0" rtlCol="0" anchor="t"/>
          <a:lstStyle/>
          <a:p>
            <a:pPr algn="l" indent="0" marL="0">
              <a:lnSpc>
                <a:spcPts val="1704"/>
              </a:lnSpc>
              <a:buNone/>
            </a:pPr>
            <a:r>
              <a:rPr lang="en-US" sz="1200" dirty="0">
                <a:solidFill>
                  <a:srgbClr val="9FB3AD"/>
                </a:solidFill>
                <a:latin typeface="Calibri" pitchFamily="34" charset="0"/>
                <a:ea typeface="Calibri" pitchFamily="34" charset="-122"/>
                <a:cs typeface="Calibri" pitchFamily="34" charset="-120"/>
              </a:rPr>
              <a:t>Enhver som selger et beredskapsarkiv og ikke har et svar på det, selger noe de ikke kan levere.</a:t>
            </a:r>
            <a:endParaRPr lang="en-US" sz="1200" dirty="0"/>
          </a:p>
        </p:txBody>
      </p:sp>
      <p:sp>
        <p:nvSpPr>
          <p:cNvPr id="15" name="Text 13"/>
          <p:cNvSpPr/>
          <p:nvPr/>
        </p:nvSpPr>
        <p:spPr>
          <a:xfrm>
            <a:off x="685800" y="5330952"/>
            <a:ext cx="4572000" cy="548640"/>
          </a:xfrm>
          <a:prstGeom prst="rect">
            <a:avLst/>
          </a:prstGeom>
          <a:noFill/>
          <a:ln/>
        </p:spPr>
        <p:txBody>
          <a:bodyPr wrap="square" lIns="0" tIns="0" rIns="0" bIns="0" rtlCol="0" anchor="t"/>
          <a:lstStyle/>
          <a:p>
            <a:pPr algn="l" indent="0" marL="0">
              <a:lnSpc>
                <a:spcPts val="1988"/>
              </a:lnSpc>
              <a:buNone/>
            </a:pPr>
            <a:r>
              <a:rPr lang="en-US" sz="1400" b="1" dirty="0">
                <a:solidFill>
                  <a:srgbClr val="EDF2F0"/>
                </a:solidFill>
                <a:latin typeface="Calibri" pitchFamily="34" charset="0"/>
                <a:ea typeface="Calibri" pitchFamily="34" charset="-122"/>
                <a:cs typeface="Calibri" pitchFamily="34" charset="-120"/>
              </a:rPr>
              <a:t>Hvilken type kjøper som overtar, avgjør om produktet overlever.</a:t>
            </a:r>
            <a:endParaRPr lang="en-US" sz="1400" dirty="0"/>
          </a:p>
        </p:txBody>
      </p:sp>
      <p:sp>
        <p:nvSpPr>
          <p:cNvPr id="16" name="Text 14"/>
          <p:cNvSpPr/>
          <p:nvPr/>
        </p:nvSpPr>
        <p:spPr>
          <a:xfrm>
            <a:off x="5440680" y="5330952"/>
            <a:ext cx="6035040" cy="777240"/>
          </a:xfrm>
          <a:prstGeom prst="rect">
            <a:avLst/>
          </a:prstGeom>
          <a:noFill/>
          <a:ln/>
        </p:spPr>
        <p:txBody>
          <a:bodyPr wrap="square" lIns="0" tIns="0" rIns="0" bIns="0" rtlCol="0" anchor="t"/>
          <a:lstStyle/>
          <a:p>
            <a:pPr algn="l" indent="0" marL="0">
              <a:lnSpc>
                <a:spcPts val="1704"/>
              </a:lnSpc>
              <a:buNone/>
            </a:pPr>
            <a:r>
              <a:rPr lang="en-US" sz="1200" dirty="0">
                <a:solidFill>
                  <a:srgbClr val="9FB3AD"/>
                </a:solidFill>
                <a:latin typeface="Calibri" pitchFamily="34" charset="0"/>
                <a:ea typeface="Calibri" pitchFamily="34" charset="-122"/>
                <a:cs typeface="Calibri" pitchFamily="34" charset="-120"/>
              </a:rPr>
              <a:t>Et begravelseskonsern tjener på selve dødsfallet — for dem er abonnentene en kundeliste å hente ut. En forsikringsaktør har motsatt insentiv.</a:t>
            </a:r>
            <a:endParaRPr lang="en-US" sz="1200" dirty="0"/>
          </a:p>
        </p:txBody>
      </p:sp>
      <p:sp>
        <p:nvSpPr>
          <p:cNvPr id="17" name="Text 15"/>
          <p:cNvSpPr/>
          <p:nvPr/>
        </p:nvSpPr>
        <p:spPr>
          <a:xfrm>
            <a:off x="685800" y="6263640"/>
            <a:ext cx="10180015" cy="411480"/>
          </a:xfrm>
          <a:prstGeom prst="rect">
            <a:avLst/>
          </a:prstGeom>
          <a:noFill/>
          <a:ln/>
        </p:spPr>
        <p:txBody>
          <a:bodyPr wrap="square" lIns="0" tIns="0" rIns="0" bIns="0" rtlCol="0" anchor="t"/>
          <a:lstStyle/>
          <a:p>
            <a:pPr indent="0" marL="0">
              <a:lnSpc>
                <a:spcPts val="1200"/>
              </a:lnSpc>
              <a:buNone/>
            </a:pPr>
            <a:r>
              <a:rPr lang="en-US" sz="900" dirty="0">
                <a:solidFill>
                  <a:srgbClr val="6E8794"/>
                </a:solidFill>
                <a:latin typeface="Calibri" pitchFamily="34" charset="0"/>
                <a:ea typeface="Calibri" pitchFamily="34" charset="-122"/>
                <a:cs typeface="Calibri" pitchFamily="34" charset="-120"/>
              </a:rPr>
              <a:t>Kilder: Funeral Director Daily om oppkjøpet, og Altogether/Cake sin egen FAQ om avviklingen. Begge hentet 28.07.2026.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HVA VI HAR BYGGET</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5</a:t>
            </a:r>
            <a:endParaRPr lang="en-US" sz="900" dirty="0"/>
          </a:p>
        </p:txBody>
      </p:sp>
      <p:sp>
        <p:nvSpPr>
          <p:cNvPr id="4" name="Text 2"/>
          <p:cNvSpPr/>
          <p:nvPr/>
        </p:nvSpPr>
        <p:spPr>
          <a:xfrm>
            <a:off x="685800" y="868680"/>
            <a:ext cx="10058400" cy="868680"/>
          </a:xfrm>
          <a:prstGeom prst="rect">
            <a:avLst/>
          </a:prstGeom>
          <a:noFill/>
          <a:ln/>
        </p:spPr>
        <p:txBody>
          <a:bodyPr wrap="square" lIns="0" tIns="0" rIns="0" bIns="0" rtlCol="0" anchor="t"/>
          <a:lstStyle/>
          <a:p>
            <a:pPr indent="0" marL="0">
              <a:lnSpc>
                <a:spcPts val="3540"/>
              </a:lnSpc>
              <a:buNone/>
            </a:pPr>
            <a:r>
              <a:rPr lang="en-US" sz="3000" b="1" dirty="0">
                <a:solidFill>
                  <a:srgbClr val="EDF2F0"/>
                </a:solidFill>
                <a:latin typeface="Georgia" pitchFamily="34" charset="0"/>
                <a:ea typeface="Georgia" pitchFamily="34" charset="-122"/>
                <a:cs typeface="Georgia" pitchFamily="34" charset="-120"/>
              </a:rPr>
              <a:t>Bygget og verifiserbart i koden</a:t>
            </a:r>
            <a:endParaRPr lang="en-US" sz="3000" dirty="0"/>
          </a:p>
        </p:txBody>
      </p:sp>
      <p:sp>
        <p:nvSpPr>
          <p:cNvPr id="5" name="Shape 3"/>
          <p:cNvSpPr/>
          <p:nvPr/>
        </p:nvSpPr>
        <p:spPr>
          <a:xfrm>
            <a:off x="685800" y="1874520"/>
            <a:ext cx="1417320" cy="475488"/>
          </a:xfrm>
          <a:prstGeom prst="roundRect">
            <a:avLst>
              <a:gd name="adj" fmla="val 19231"/>
            </a:avLst>
          </a:prstGeom>
          <a:solidFill>
            <a:srgbClr val="16283A"/>
          </a:solidFill>
          <a:ln w="12700">
            <a:solidFill>
              <a:srgbClr val="27405A"/>
            </a:solidFill>
            <a:prstDash val="solid"/>
          </a:ln>
        </p:spPr>
      </p:sp>
      <p:sp>
        <p:nvSpPr>
          <p:cNvPr id="6" name="Text 4"/>
          <p:cNvSpPr/>
          <p:nvPr/>
        </p:nvSpPr>
        <p:spPr>
          <a:xfrm>
            <a:off x="685800" y="1874520"/>
            <a:ext cx="1417320" cy="475488"/>
          </a:xfrm>
          <a:prstGeom prst="rect">
            <a:avLst/>
          </a:prstGeom>
          <a:noFill/>
          <a:ln/>
        </p:spPr>
        <p:txBody>
          <a:bodyPr wrap="square" lIns="254" tIns="254" rIns="254" bIns="254" rtlCol="0" anchor="ctr"/>
          <a:lstStyle/>
          <a:p>
            <a:pPr algn="ctr" indent="0" marL="0">
              <a:buNone/>
            </a:pPr>
            <a:r>
              <a:rPr lang="en-US" sz="950" dirty="0">
                <a:solidFill>
                  <a:srgbClr val="EDF2F0"/>
                </a:solidFill>
                <a:latin typeface="Calibri" pitchFamily="34" charset="0"/>
                <a:ea typeface="Calibri" pitchFamily="34" charset="-122"/>
                <a:cs typeface="Calibri" pitchFamily="34" charset="-120"/>
              </a:rPr>
              <a:t>hvelv</a:t>
            </a:r>
            <a:endParaRPr lang="en-US" sz="950" dirty="0"/>
          </a:p>
        </p:txBody>
      </p:sp>
      <p:sp>
        <p:nvSpPr>
          <p:cNvPr id="7" name="Text 5"/>
          <p:cNvSpPr/>
          <p:nvPr/>
        </p:nvSpPr>
        <p:spPr>
          <a:xfrm>
            <a:off x="2103120" y="1874520"/>
            <a:ext cx="146304" cy="475488"/>
          </a:xfrm>
          <a:prstGeom prst="rect">
            <a:avLst/>
          </a:prstGeom>
          <a:noFill/>
          <a:ln/>
        </p:spPr>
        <p:txBody>
          <a:bodyPr wrap="square" lIns="0" tIns="0" rIns="0" bIns="0" rtlCol="0" anchor="ctr"/>
          <a:lstStyle/>
          <a:p>
            <a:pPr algn="ctr" indent="0" marL="0">
              <a:buNone/>
            </a:pPr>
            <a:r>
              <a:rPr lang="en-US" sz="1200" dirty="0">
                <a:solidFill>
                  <a:srgbClr val="7FB7A3"/>
                </a:solidFill>
                <a:latin typeface="Calibri" pitchFamily="34" charset="0"/>
                <a:ea typeface="Calibri" pitchFamily="34" charset="-122"/>
                <a:cs typeface="Calibri" pitchFamily="34" charset="-120"/>
              </a:rPr>
              <a:t>›</a:t>
            </a:r>
            <a:endParaRPr lang="en-US" sz="1200" dirty="0"/>
          </a:p>
        </p:txBody>
      </p:sp>
      <p:sp>
        <p:nvSpPr>
          <p:cNvPr id="8" name="Shape 6"/>
          <p:cNvSpPr/>
          <p:nvPr/>
        </p:nvSpPr>
        <p:spPr>
          <a:xfrm>
            <a:off x="2249424" y="1874520"/>
            <a:ext cx="1417320" cy="475488"/>
          </a:xfrm>
          <a:prstGeom prst="roundRect">
            <a:avLst>
              <a:gd name="adj" fmla="val 19231"/>
            </a:avLst>
          </a:prstGeom>
          <a:solidFill>
            <a:srgbClr val="16283A"/>
          </a:solidFill>
          <a:ln w="12700">
            <a:solidFill>
              <a:srgbClr val="27405A"/>
            </a:solidFill>
            <a:prstDash val="solid"/>
          </a:ln>
        </p:spPr>
      </p:sp>
      <p:sp>
        <p:nvSpPr>
          <p:cNvPr id="9" name="Text 7"/>
          <p:cNvSpPr/>
          <p:nvPr/>
        </p:nvSpPr>
        <p:spPr>
          <a:xfrm>
            <a:off x="2249424" y="1874520"/>
            <a:ext cx="1417320" cy="475488"/>
          </a:xfrm>
          <a:prstGeom prst="rect">
            <a:avLst/>
          </a:prstGeom>
          <a:noFill/>
          <a:ln/>
        </p:spPr>
        <p:txBody>
          <a:bodyPr wrap="square" lIns="254" tIns="254" rIns="254" bIns="254" rtlCol="0" anchor="ctr"/>
          <a:lstStyle/>
          <a:p>
            <a:pPr algn="ctr" indent="0" marL="0">
              <a:buNone/>
            </a:pPr>
            <a:r>
              <a:rPr lang="en-US" sz="950" dirty="0">
                <a:solidFill>
                  <a:srgbClr val="EDF2F0"/>
                </a:solidFill>
                <a:latin typeface="Calibri" pitchFamily="34" charset="0"/>
                <a:ea typeface="Calibri" pitchFamily="34" charset="-122"/>
                <a:cs typeface="Calibri" pitchFamily="34" charset="-120"/>
              </a:rPr>
              <a:t>mottakermatrise</a:t>
            </a:r>
            <a:endParaRPr lang="en-US" sz="950" dirty="0"/>
          </a:p>
        </p:txBody>
      </p:sp>
      <p:sp>
        <p:nvSpPr>
          <p:cNvPr id="10" name="Text 8"/>
          <p:cNvSpPr/>
          <p:nvPr/>
        </p:nvSpPr>
        <p:spPr>
          <a:xfrm>
            <a:off x="3666744" y="1874520"/>
            <a:ext cx="146304" cy="475488"/>
          </a:xfrm>
          <a:prstGeom prst="rect">
            <a:avLst/>
          </a:prstGeom>
          <a:noFill/>
          <a:ln/>
        </p:spPr>
        <p:txBody>
          <a:bodyPr wrap="square" lIns="0" tIns="0" rIns="0" bIns="0" rtlCol="0" anchor="ctr"/>
          <a:lstStyle/>
          <a:p>
            <a:pPr algn="ctr" indent="0" marL="0">
              <a:buNone/>
            </a:pPr>
            <a:r>
              <a:rPr lang="en-US" sz="1200" dirty="0">
                <a:solidFill>
                  <a:srgbClr val="7FB7A3"/>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3813048" y="1874520"/>
            <a:ext cx="1417320" cy="475488"/>
          </a:xfrm>
          <a:prstGeom prst="roundRect">
            <a:avLst>
              <a:gd name="adj" fmla="val 19231"/>
            </a:avLst>
          </a:prstGeom>
          <a:solidFill>
            <a:srgbClr val="16283A"/>
          </a:solidFill>
          <a:ln w="12700">
            <a:solidFill>
              <a:srgbClr val="27405A"/>
            </a:solidFill>
            <a:prstDash val="solid"/>
          </a:ln>
        </p:spPr>
      </p:sp>
      <p:sp>
        <p:nvSpPr>
          <p:cNvPr id="12" name="Text 10"/>
          <p:cNvSpPr/>
          <p:nvPr/>
        </p:nvSpPr>
        <p:spPr>
          <a:xfrm>
            <a:off x="3813048" y="1874520"/>
            <a:ext cx="1417320" cy="475488"/>
          </a:xfrm>
          <a:prstGeom prst="rect">
            <a:avLst/>
          </a:prstGeom>
          <a:noFill/>
          <a:ln/>
        </p:spPr>
        <p:txBody>
          <a:bodyPr wrap="square" lIns="254" tIns="254" rIns="254" bIns="254" rtlCol="0" anchor="ctr"/>
          <a:lstStyle/>
          <a:p>
            <a:pPr algn="ctr" indent="0" marL="0">
              <a:buNone/>
            </a:pPr>
            <a:r>
              <a:rPr lang="en-US" sz="950" dirty="0">
                <a:solidFill>
                  <a:srgbClr val="EDF2F0"/>
                </a:solidFill>
                <a:latin typeface="Calibri" pitchFamily="34" charset="0"/>
                <a:ea typeface="Calibri" pitchFamily="34" charset="-122"/>
                <a:cs typeface="Calibri" pitchFamily="34" charset="-120"/>
              </a:rPr>
              <a:t>trigger</a:t>
            </a:r>
            <a:endParaRPr lang="en-US" sz="950" dirty="0"/>
          </a:p>
        </p:txBody>
      </p:sp>
      <p:sp>
        <p:nvSpPr>
          <p:cNvPr id="13" name="Text 11"/>
          <p:cNvSpPr/>
          <p:nvPr/>
        </p:nvSpPr>
        <p:spPr>
          <a:xfrm>
            <a:off x="5230368" y="1874520"/>
            <a:ext cx="146304" cy="475488"/>
          </a:xfrm>
          <a:prstGeom prst="rect">
            <a:avLst/>
          </a:prstGeom>
          <a:noFill/>
          <a:ln/>
        </p:spPr>
        <p:txBody>
          <a:bodyPr wrap="square" lIns="0" tIns="0" rIns="0" bIns="0" rtlCol="0" anchor="ctr"/>
          <a:lstStyle/>
          <a:p>
            <a:pPr algn="ctr" indent="0" marL="0">
              <a:buNone/>
            </a:pPr>
            <a:r>
              <a:rPr lang="en-US" sz="1200" dirty="0">
                <a:solidFill>
                  <a:srgbClr val="7FB7A3"/>
                </a:solidFill>
                <a:latin typeface="Calibri" pitchFamily="34" charset="0"/>
                <a:ea typeface="Calibri" pitchFamily="34" charset="-122"/>
                <a:cs typeface="Calibri" pitchFamily="34" charset="-120"/>
              </a:rPr>
              <a:t>›</a:t>
            </a:r>
            <a:endParaRPr lang="en-US" sz="1200" dirty="0"/>
          </a:p>
        </p:txBody>
      </p:sp>
      <p:sp>
        <p:nvSpPr>
          <p:cNvPr id="14" name="Shape 12"/>
          <p:cNvSpPr/>
          <p:nvPr/>
        </p:nvSpPr>
        <p:spPr>
          <a:xfrm>
            <a:off x="5376672" y="1874520"/>
            <a:ext cx="1417320" cy="475488"/>
          </a:xfrm>
          <a:prstGeom prst="roundRect">
            <a:avLst>
              <a:gd name="adj" fmla="val 19231"/>
            </a:avLst>
          </a:prstGeom>
          <a:solidFill>
            <a:srgbClr val="16283A"/>
          </a:solidFill>
          <a:ln w="12700">
            <a:solidFill>
              <a:srgbClr val="27405A"/>
            </a:solidFill>
            <a:prstDash val="solid"/>
          </a:ln>
        </p:spPr>
      </p:sp>
      <p:sp>
        <p:nvSpPr>
          <p:cNvPr id="15" name="Text 13"/>
          <p:cNvSpPr/>
          <p:nvPr/>
        </p:nvSpPr>
        <p:spPr>
          <a:xfrm>
            <a:off x="5376672" y="1874520"/>
            <a:ext cx="1417320" cy="475488"/>
          </a:xfrm>
          <a:prstGeom prst="rect">
            <a:avLst/>
          </a:prstGeom>
          <a:noFill/>
          <a:ln/>
        </p:spPr>
        <p:txBody>
          <a:bodyPr wrap="square" lIns="254" tIns="254" rIns="254" bIns="254" rtlCol="0" anchor="ctr"/>
          <a:lstStyle/>
          <a:p>
            <a:pPr algn="ctr" indent="0" marL="0">
              <a:buNone/>
            </a:pPr>
            <a:r>
              <a:rPr lang="en-US" sz="950" dirty="0">
                <a:solidFill>
                  <a:srgbClr val="EDF2F0"/>
                </a:solidFill>
                <a:latin typeface="Calibri" pitchFamily="34" charset="0"/>
                <a:ea typeface="Calibri" pitchFamily="34" charset="-122"/>
                <a:cs typeface="Calibri" pitchFamily="34" charset="-120"/>
              </a:rPr>
              <a:t>verifisering</a:t>
            </a:r>
            <a:endParaRPr lang="en-US" sz="950" dirty="0"/>
          </a:p>
        </p:txBody>
      </p:sp>
      <p:sp>
        <p:nvSpPr>
          <p:cNvPr id="16" name="Text 14"/>
          <p:cNvSpPr/>
          <p:nvPr/>
        </p:nvSpPr>
        <p:spPr>
          <a:xfrm>
            <a:off x="6793992" y="1874520"/>
            <a:ext cx="146304" cy="475488"/>
          </a:xfrm>
          <a:prstGeom prst="rect">
            <a:avLst/>
          </a:prstGeom>
          <a:noFill/>
          <a:ln/>
        </p:spPr>
        <p:txBody>
          <a:bodyPr wrap="square" lIns="0" tIns="0" rIns="0" bIns="0" rtlCol="0" anchor="ctr"/>
          <a:lstStyle/>
          <a:p>
            <a:pPr algn="ctr" indent="0" marL="0">
              <a:buNone/>
            </a:pPr>
            <a:r>
              <a:rPr lang="en-US" sz="1200" dirty="0">
                <a:solidFill>
                  <a:srgbClr val="7FB7A3"/>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6940296" y="1874520"/>
            <a:ext cx="1417320" cy="475488"/>
          </a:xfrm>
          <a:prstGeom prst="roundRect">
            <a:avLst>
              <a:gd name="adj" fmla="val 19231"/>
            </a:avLst>
          </a:prstGeom>
          <a:solidFill>
            <a:srgbClr val="16283A"/>
          </a:solidFill>
          <a:ln w="12700">
            <a:solidFill>
              <a:srgbClr val="27405A"/>
            </a:solidFill>
            <a:prstDash val="solid"/>
          </a:ln>
        </p:spPr>
      </p:sp>
      <p:sp>
        <p:nvSpPr>
          <p:cNvPr id="18" name="Text 16"/>
          <p:cNvSpPr/>
          <p:nvPr/>
        </p:nvSpPr>
        <p:spPr>
          <a:xfrm>
            <a:off x="6940296" y="1874520"/>
            <a:ext cx="1417320" cy="475488"/>
          </a:xfrm>
          <a:prstGeom prst="rect">
            <a:avLst/>
          </a:prstGeom>
          <a:noFill/>
          <a:ln/>
        </p:spPr>
        <p:txBody>
          <a:bodyPr wrap="square" lIns="254" tIns="254" rIns="254" bIns="254" rtlCol="0" anchor="ctr"/>
          <a:lstStyle/>
          <a:p>
            <a:pPr algn="ctr" indent="0" marL="0">
              <a:buNone/>
            </a:pPr>
            <a:r>
              <a:rPr lang="en-US" sz="950" dirty="0">
                <a:solidFill>
                  <a:srgbClr val="EDF2F0"/>
                </a:solidFill>
                <a:latin typeface="Calibri" pitchFamily="34" charset="0"/>
                <a:ea typeface="Calibri" pitchFamily="34" charset="-122"/>
                <a:cs typeface="Calibri" pitchFamily="34" charset="-120"/>
              </a:rPr>
              <a:t>karenstid</a:t>
            </a:r>
            <a:endParaRPr lang="en-US" sz="950" dirty="0"/>
          </a:p>
        </p:txBody>
      </p:sp>
      <p:sp>
        <p:nvSpPr>
          <p:cNvPr id="19" name="Text 17"/>
          <p:cNvSpPr/>
          <p:nvPr/>
        </p:nvSpPr>
        <p:spPr>
          <a:xfrm>
            <a:off x="8357616" y="1874520"/>
            <a:ext cx="146304" cy="475488"/>
          </a:xfrm>
          <a:prstGeom prst="rect">
            <a:avLst/>
          </a:prstGeom>
          <a:noFill/>
          <a:ln/>
        </p:spPr>
        <p:txBody>
          <a:bodyPr wrap="square" lIns="0" tIns="0" rIns="0" bIns="0" rtlCol="0" anchor="ctr"/>
          <a:lstStyle/>
          <a:p>
            <a:pPr algn="ctr" indent="0" marL="0">
              <a:buNone/>
            </a:pPr>
            <a:r>
              <a:rPr lang="en-US" sz="1200" dirty="0">
                <a:solidFill>
                  <a:srgbClr val="7FB7A3"/>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8503920" y="1874520"/>
            <a:ext cx="1417320" cy="475488"/>
          </a:xfrm>
          <a:prstGeom prst="roundRect">
            <a:avLst>
              <a:gd name="adj" fmla="val 19231"/>
            </a:avLst>
          </a:prstGeom>
          <a:solidFill>
            <a:srgbClr val="16283A"/>
          </a:solidFill>
          <a:ln w="12700">
            <a:solidFill>
              <a:srgbClr val="27405A"/>
            </a:solidFill>
            <a:prstDash val="solid"/>
          </a:ln>
        </p:spPr>
      </p:sp>
      <p:sp>
        <p:nvSpPr>
          <p:cNvPr id="21" name="Text 19"/>
          <p:cNvSpPr/>
          <p:nvPr/>
        </p:nvSpPr>
        <p:spPr>
          <a:xfrm>
            <a:off x="8503920" y="1874520"/>
            <a:ext cx="1417320" cy="475488"/>
          </a:xfrm>
          <a:prstGeom prst="rect">
            <a:avLst/>
          </a:prstGeom>
          <a:noFill/>
          <a:ln/>
        </p:spPr>
        <p:txBody>
          <a:bodyPr wrap="square" lIns="254" tIns="254" rIns="254" bIns="254" rtlCol="0" anchor="ctr"/>
          <a:lstStyle/>
          <a:p>
            <a:pPr algn="ctr" indent="0" marL="0">
              <a:buNone/>
            </a:pPr>
            <a:r>
              <a:rPr lang="en-US" sz="950" dirty="0">
                <a:solidFill>
                  <a:srgbClr val="EDF2F0"/>
                </a:solidFill>
                <a:latin typeface="Calibri" pitchFamily="34" charset="0"/>
                <a:ea typeface="Calibri" pitchFamily="34" charset="-122"/>
                <a:cs typeface="Calibri" pitchFamily="34" charset="-120"/>
              </a:rPr>
              <a:t>frigivelse</a:t>
            </a:r>
            <a:endParaRPr lang="en-US" sz="950" dirty="0"/>
          </a:p>
        </p:txBody>
      </p:sp>
      <p:sp>
        <p:nvSpPr>
          <p:cNvPr id="22" name="Text 20"/>
          <p:cNvSpPr/>
          <p:nvPr/>
        </p:nvSpPr>
        <p:spPr>
          <a:xfrm>
            <a:off x="9921240" y="1874520"/>
            <a:ext cx="146304" cy="475488"/>
          </a:xfrm>
          <a:prstGeom prst="rect">
            <a:avLst/>
          </a:prstGeom>
          <a:noFill/>
          <a:ln/>
        </p:spPr>
        <p:txBody>
          <a:bodyPr wrap="square" lIns="0" tIns="0" rIns="0" bIns="0" rtlCol="0" anchor="ctr"/>
          <a:lstStyle/>
          <a:p>
            <a:pPr algn="ctr" indent="0" marL="0">
              <a:buNone/>
            </a:pPr>
            <a:r>
              <a:rPr lang="en-US" sz="1200" dirty="0">
                <a:solidFill>
                  <a:srgbClr val="7FB7A3"/>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10067544" y="1874520"/>
            <a:ext cx="1417320" cy="475488"/>
          </a:xfrm>
          <a:prstGeom prst="roundRect">
            <a:avLst>
              <a:gd name="adj" fmla="val 19231"/>
            </a:avLst>
          </a:prstGeom>
          <a:solidFill>
            <a:srgbClr val="16283A"/>
          </a:solidFill>
          <a:ln w="12700">
            <a:solidFill>
              <a:srgbClr val="27405A"/>
            </a:solidFill>
            <a:prstDash val="solid"/>
          </a:ln>
        </p:spPr>
      </p:sp>
      <p:sp>
        <p:nvSpPr>
          <p:cNvPr id="24" name="Text 22"/>
          <p:cNvSpPr/>
          <p:nvPr/>
        </p:nvSpPr>
        <p:spPr>
          <a:xfrm>
            <a:off x="10067544" y="1874520"/>
            <a:ext cx="1417320" cy="475488"/>
          </a:xfrm>
          <a:prstGeom prst="rect">
            <a:avLst/>
          </a:prstGeom>
          <a:noFill/>
          <a:ln/>
        </p:spPr>
        <p:txBody>
          <a:bodyPr wrap="square" lIns="254" tIns="254" rIns="254" bIns="254" rtlCol="0" anchor="ctr"/>
          <a:lstStyle/>
          <a:p>
            <a:pPr algn="ctr" indent="0" marL="0">
              <a:buNone/>
            </a:pPr>
            <a:r>
              <a:rPr lang="en-US" sz="950" dirty="0">
                <a:solidFill>
                  <a:srgbClr val="EDF2F0"/>
                </a:solidFill>
                <a:latin typeface="Calibri" pitchFamily="34" charset="0"/>
                <a:ea typeface="Calibri" pitchFamily="34" charset="-122"/>
                <a:cs typeface="Calibri" pitchFamily="34" charset="-120"/>
              </a:rPr>
              <a:t>etterlattevisning</a:t>
            </a:r>
            <a:endParaRPr lang="en-US" sz="950" dirty="0"/>
          </a:p>
        </p:txBody>
      </p:sp>
      <p:sp>
        <p:nvSpPr>
          <p:cNvPr id="25" name="Shape 23"/>
          <p:cNvSpPr/>
          <p:nvPr/>
        </p:nvSpPr>
        <p:spPr>
          <a:xfrm>
            <a:off x="685800" y="2788920"/>
            <a:ext cx="3419856" cy="1371600"/>
          </a:xfrm>
          <a:prstGeom prst="roundRect">
            <a:avLst>
              <a:gd name="adj" fmla="val 6000"/>
            </a:avLst>
          </a:prstGeom>
          <a:solidFill>
            <a:srgbClr val="16283A"/>
          </a:solidFill>
          <a:ln w="12700">
            <a:solidFill>
              <a:srgbClr val="27405A"/>
            </a:solidFill>
            <a:prstDash val="solid"/>
          </a:ln>
        </p:spPr>
      </p:sp>
      <p:sp>
        <p:nvSpPr>
          <p:cNvPr id="26" name="Text 24"/>
          <p:cNvSpPr/>
          <p:nvPr/>
        </p:nvSpPr>
        <p:spPr>
          <a:xfrm>
            <a:off x="941832" y="2953512"/>
            <a:ext cx="2907792" cy="457200"/>
          </a:xfrm>
          <a:prstGeom prst="rect">
            <a:avLst/>
          </a:prstGeom>
          <a:noFill/>
          <a:ln/>
        </p:spPr>
        <p:txBody>
          <a:bodyPr wrap="square" lIns="0" tIns="0" rIns="0" bIns="0" rtlCol="0" anchor="b"/>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Fire øyne</a:t>
            </a:r>
            <a:endParaRPr lang="en-US" sz="1250" dirty="0"/>
          </a:p>
        </p:txBody>
      </p:sp>
      <p:sp>
        <p:nvSpPr>
          <p:cNvPr id="27" name="Text 25"/>
          <p:cNvSpPr/>
          <p:nvPr/>
        </p:nvSpPr>
        <p:spPr>
          <a:xfrm>
            <a:off x="941832" y="3465576"/>
            <a:ext cx="2907792" cy="603504"/>
          </a:xfrm>
          <a:prstGeom prst="rect">
            <a:avLst/>
          </a:prstGeom>
          <a:noFill/>
          <a:ln/>
        </p:spPr>
        <p:txBody>
          <a:bodyPr wrap="square" lIns="0" tIns="0" rIns="0" bIns="0" rtlCol="0" anchor="t"/>
          <a:lstStyle/>
          <a:p>
            <a:pPr algn="l" indent="0" marL="0">
              <a:lnSpc>
                <a:spcPts val="1420"/>
              </a:lnSpc>
              <a:buNone/>
            </a:pPr>
            <a:r>
              <a:rPr lang="en-US" sz="1000" dirty="0">
                <a:solidFill>
                  <a:srgbClr val="9FB3AD"/>
                </a:solidFill>
                <a:latin typeface="Calibri" pitchFamily="34" charset="0"/>
                <a:ea typeface="Calibri" pitchFamily="34" charset="-122"/>
                <a:cs typeface="Calibri" pitchFamily="34" charset="-120"/>
              </a:rPr>
              <a:t>To ulike saksbehandlere må godkjenne. Håndhevet i appen og som CHECK-beskrankning i databasen.</a:t>
            </a:r>
            <a:endParaRPr lang="en-US" sz="1000" dirty="0"/>
          </a:p>
        </p:txBody>
      </p:sp>
      <p:sp>
        <p:nvSpPr>
          <p:cNvPr id="28" name="Shape 26"/>
          <p:cNvSpPr/>
          <p:nvPr/>
        </p:nvSpPr>
        <p:spPr>
          <a:xfrm>
            <a:off x="4379976" y="2788920"/>
            <a:ext cx="3419856" cy="1371600"/>
          </a:xfrm>
          <a:prstGeom prst="roundRect">
            <a:avLst>
              <a:gd name="adj" fmla="val 6000"/>
            </a:avLst>
          </a:prstGeom>
          <a:solidFill>
            <a:srgbClr val="16283A"/>
          </a:solidFill>
          <a:ln w="12700">
            <a:solidFill>
              <a:srgbClr val="27405A"/>
            </a:solidFill>
            <a:prstDash val="solid"/>
          </a:ln>
        </p:spPr>
      </p:sp>
      <p:sp>
        <p:nvSpPr>
          <p:cNvPr id="29" name="Text 27"/>
          <p:cNvSpPr/>
          <p:nvPr/>
        </p:nvSpPr>
        <p:spPr>
          <a:xfrm>
            <a:off x="4636008" y="2953512"/>
            <a:ext cx="2907792" cy="457200"/>
          </a:xfrm>
          <a:prstGeom prst="rect">
            <a:avLst/>
          </a:prstGeom>
          <a:noFill/>
          <a:ln/>
        </p:spPr>
        <p:txBody>
          <a:bodyPr wrap="square" lIns="0" tIns="0" rIns="0" bIns="0" rtlCol="0" anchor="b"/>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Karenstid, 48 timer</a:t>
            </a:r>
            <a:endParaRPr lang="en-US" sz="1250" dirty="0"/>
          </a:p>
        </p:txBody>
      </p:sp>
      <p:sp>
        <p:nvSpPr>
          <p:cNvPr id="30" name="Text 28"/>
          <p:cNvSpPr/>
          <p:nvPr/>
        </p:nvSpPr>
        <p:spPr>
          <a:xfrm>
            <a:off x="4636008" y="3465576"/>
            <a:ext cx="2907792" cy="603504"/>
          </a:xfrm>
          <a:prstGeom prst="rect">
            <a:avLst/>
          </a:prstGeom>
          <a:noFill/>
          <a:ln/>
        </p:spPr>
        <p:txBody>
          <a:bodyPr wrap="square" lIns="0" tIns="0" rIns="0" bIns="0" rtlCol="0" anchor="t"/>
          <a:lstStyle/>
          <a:p>
            <a:pPr algn="l" indent="0" marL="0">
              <a:lnSpc>
                <a:spcPts val="1420"/>
              </a:lnSpc>
              <a:buNone/>
            </a:pPr>
            <a:r>
              <a:rPr lang="en-US" sz="1000" dirty="0">
                <a:solidFill>
                  <a:srgbClr val="9FB3AD"/>
                </a:solidFill>
                <a:latin typeface="Calibri" pitchFamily="34" charset="0"/>
                <a:ea typeface="Calibri" pitchFamily="34" charset="-122"/>
                <a:cs typeface="Calibri" pitchFamily="34" charset="-120"/>
              </a:rPr>
              <a:t>Standard ventetid før frigivelse, med eierens nødbrems: karenstid → blokkert.</a:t>
            </a:r>
            <a:endParaRPr lang="en-US" sz="1000" dirty="0"/>
          </a:p>
        </p:txBody>
      </p:sp>
      <p:sp>
        <p:nvSpPr>
          <p:cNvPr id="31" name="Shape 29"/>
          <p:cNvSpPr/>
          <p:nvPr/>
        </p:nvSpPr>
        <p:spPr>
          <a:xfrm>
            <a:off x="8074152" y="2788920"/>
            <a:ext cx="3419856" cy="1371600"/>
          </a:xfrm>
          <a:prstGeom prst="roundRect">
            <a:avLst>
              <a:gd name="adj" fmla="val 6000"/>
            </a:avLst>
          </a:prstGeom>
          <a:solidFill>
            <a:srgbClr val="16283A"/>
          </a:solidFill>
          <a:ln w="12700">
            <a:solidFill>
              <a:srgbClr val="27405A"/>
            </a:solidFill>
            <a:prstDash val="solid"/>
          </a:ln>
        </p:spPr>
      </p:sp>
      <p:sp>
        <p:nvSpPr>
          <p:cNvPr id="32" name="Text 30"/>
          <p:cNvSpPr/>
          <p:nvPr/>
        </p:nvSpPr>
        <p:spPr>
          <a:xfrm>
            <a:off x="8330184" y="2953512"/>
            <a:ext cx="2907792" cy="457200"/>
          </a:xfrm>
          <a:prstGeom prst="rect">
            <a:avLst/>
          </a:prstGeom>
          <a:noFill/>
          <a:ln/>
        </p:spPr>
        <p:txBody>
          <a:bodyPr wrap="square" lIns="0" tIns="0" rIns="0" bIns="0" rtlCol="0" anchor="b"/>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Zero-knowledge</a:t>
            </a:r>
            <a:endParaRPr lang="en-US" sz="1250" dirty="0"/>
          </a:p>
        </p:txBody>
      </p:sp>
      <p:sp>
        <p:nvSpPr>
          <p:cNvPr id="33" name="Text 31"/>
          <p:cNvSpPr/>
          <p:nvPr/>
        </p:nvSpPr>
        <p:spPr>
          <a:xfrm>
            <a:off x="8330184" y="3465576"/>
            <a:ext cx="2907792" cy="603504"/>
          </a:xfrm>
          <a:prstGeom prst="rect">
            <a:avLst/>
          </a:prstGeom>
          <a:noFill/>
          <a:ln/>
        </p:spPr>
        <p:txBody>
          <a:bodyPr wrap="square" lIns="0" tIns="0" rIns="0" bIns="0" rtlCol="0" anchor="t"/>
          <a:lstStyle/>
          <a:p>
            <a:pPr algn="l" indent="0" marL="0">
              <a:lnSpc>
                <a:spcPts val="1420"/>
              </a:lnSpc>
              <a:buNone/>
            </a:pPr>
            <a:r>
              <a:rPr lang="en-US" sz="1000" dirty="0">
                <a:solidFill>
                  <a:srgbClr val="9FB3AD"/>
                </a:solidFill>
                <a:latin typeface="Calibri" pitchFamily="34" charset="0"/>
                <a:ea typeface="Calibri" pitchFamily="34" charset="-122"/>
                <a:cs typeface="Calibri" pitchFamily="34" charset="-120"/>
              </a:rPr>
              <a:t>PBKDF2 310 000 iterasjoner, AES-GCM 256, nøkkeldeling via ECDH P-256 — alt i nettleseren. Serveren avviser klartekst.</a:t>
            </a:r>
            <a:endParaRPr lang="en-US" sz="1000" dirty="0"/>
          </a:p>
        </p:txBody>
      </p:sp>
      <p:sp>
        <p:nvSpPr>
          <p:cNvPr id="34" name="Shape 32"/>
          <p:cNvSpPr/>
          <p:nvPr/>
        </p:nvSpPr>
        <p:spPr>
          <a:xfrm>
            <a:off x="685800" y="4270248"/>
            <a:ext cx="3419856" cy="1371600"/>
          </a:xfrm>
          <a:prstGeom prst="roundRect">
            <a:avLst>
              <a:gd name="adj" fmla="val 6000"/>
            </a:avLst>
          </a:prstGeom>
          <a:solidFill>
            <a:srgbClr val="16283A"/>
          </a:solidFill>
          <a:ln w="12700">
            <a:solidFill>
              <a:srgbClr val="27405A"/>
            </a:solidFill>
            <a:prstDash val="solid"/>
          </a:ln>
        </p:spPr>
      </p:sp>
      <p:sp>
        <p:nvSpPr>
          <p:cNvPr id="35" name="Text 33"/>
          <p:cNvSpPr/>
          <p:nvPr/>
        </p:nvSpPr>
        <p:spPr>
          <a:xfrm>
            <a:off x="941832" y="4434840"/>
            <a:ext cx="2907792" cy="457200"/>
          </a:xfrm>
          <a:prstGeom prst="rect">
            <a:avLst/>
          </a:prstGeom>
          <a:noFill/>
          <a:ln/>
        </p:spPr>
        <p:txBody>
          <a:bodyPr wrap="square" lIns="0" tIns="0" rIns="0" bIns="0" rtlCol="0" anchor="b"/>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Append-only revisjonslogg</a:t>
            </a:r>
            <a:endParaRPr lang="en-US" sz="1250" dirty="0"/>
          </a:p>
        </p:txBody>
      </p:sp>
      <p:sp>
        <p:nvSpPr>
          <p:cNvPr id="36" name="Text 34"/>
          <p:cNvSpPr/>
          <p:nvPr/>
        </p:nvSpPr>
        <p:spPr>
          <a:xfrm>
            <a:off x="941832" y="4946904"/>
            <a:ext cx="2907792" cy="603504"/>
          </a:xfrm>
          <a:prstGeom prst="rect">
            <a:avLst/>
          </a:prstGeom>
          <a:noFill/>
          <a:ln/>
        </p:spPr>
        <p:txBody>
          <a:bodyPr wrap="square" lIns="0" tIns="0" rIns="0" bIns="0" rtlCol="0" anchor="t"/>
          <a:lstStyle/>
          <a:p>
            <a:pPr algn="l" indent="0" marL="0">
              <a:lnSpc>
                <a:spcPts val="1420"/>
              </a:lnSpc>
              <a:buNone/>
            </a:pPr>
            <a:r>
              <a:rPr lang="en-US" sz="1000" dirty="0">
                <a:solidFill>
                  <a:srgbClr val="9FB3AD"/>
                </a:solidFill>
                <a:latin typeface="Calibri" pitchFamily="34" charset="0"/>
                <a:ea typeface="Calibri" pitchFamily="34" charset="-122"/>
                <a:cs typeface="Calibri" pitchFamily="34" charset="-120"/>
              </a:rPr>
              <a:t>Approllen har kun SELECT og INSERT. Det finnes ingen UPDATE eller DELETE å omgå.</a:t>
            </a:r>
            <a:endParaRPr lang="en-US" sz="1000" dirty="0"/>
          </a:p>
        </p:txBody>
      </p:sp>
      <p:sp>
        <p:nvSpPr>
          <p:cNvPr id="37" name="Shape 35"/>
          <p:cNvSpPr/>
          <p:nvPr/>
        </p:nvSpPr>
        <p:spPr>
          <a:xfrm>
            <a:off x="4379976" y="4270248"/>
            <a:ext cx="3419856" cy="1371600"/>
          </a:xfrm>
          <a:prstGeom prst="roundRect">
            <a:avLst>
              <a:gd name="adj" fmla="val 6000"/>
            </a:avLst>
          </a:prstGeom>
          <a:solidFill>
            <a:srgbClr val="16283A"/>
          </a:solidFill>
          <a:ln w="12700">
            <a:solidFill>
              <a:srgbClr val="27405A"/>
            </a:solidFill>
            <a:prstDash val="solid"/>
          </a:ln>
        </p:spPr>
      </p:sp>
      <p:sp>
        <p:nvSpPr>
          <p:cNvPr id="38" name="Text 36"/>
          <p:cNvSpPr/>
          <p:nvPr/>
        </p:nvSpPr>
        <p:spPr>
          <a:xfrm>
            <a:off x="4636008" y="4434840"/>
            <a:ext cx="2907792" cy="457200"/>
          </a:xfrm>
          <a:prstGeom prst="rect">
            <a:avLst/>
          </a:prstGeom>
          <a:noFill/>
          <a:ln/>
        </p:spPr>
        <p:txBody>
          <a:bodyPr wrap="square" lIns="0" tIns="0" rIns="0" bIns="0" rtlCol="0" anchor="b"/>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Ingen saksbehandler leser innhold</a:t>
            </a:r>
            <a:endParaRPr lang="en-US" sz="1250" dirty="0"/>
          </a:p>
        </p:txBody>
      </p:sp>
      <p:sp>
        <p:nvSpPr>
          <p:cNvPr id="39" name="Text 37"/>
          <p:cNvSpPr/>
          <p:nvPr/>
        </p:nvSpPr>
        <p:spPr>
          <a:xfrm>
            <a:off x="4636008" y="4946904"/>
            <a:ext cx="2907792" cy="603504"/>
          </a:xfrm>
          <a:prstGeom prst="rect">
            <a:avLst/>
          </a:prstGeom>
          <a:noFill/>
          <a:ln/>
        </p:spPr>
        <p:txBody>
          <a:bodyPr wrap="square" lIns="0" tIns="0" rIns="0" bIns="0" rtlCol="0" anchor="t"/>
          <a:lstStyle/>
          <a:p>
            <a:pPr algn="l" indent="0" marL="0">
              <a:lnSpc>
                <a:spcPts val="1420"/>
              </a:lnSpc>
              <a:buNone/>
            </a:pPr>
            <a:r>
              <a:rPr lang="en-US" sz="1000" dirty="0">
                <a:solidFill>
                  <a:srgbClr val="9FB3AD"/>
                </a:solidFill>
                <a:latin typeface="Calibri" pitchFamily="34" charset="0"/>
                <a:ea typeface="Calibri" pitchFamily="34" charset="-122"/>
                <a:cs typeface="Calibri" pitchFamily="34" charset="-120"/>
              </a:rPr>
              <a:t>Det finnes ingen tilgangsregel som gir det. Hvelvet har to lesepolicyer: eieren, og en mottaker etter frigivelse.</a:t>
            </a:r>
            <a:endParaRPr lang="en-US" sz="1000" dirty="0"/>
          </a:p>
        </p:txBody>
      </p:sp>
      <p:sp>
        <p:nvSpPr>
          <p:cNvPr id="40" name="Shape 38"/>
          <p:cNvSpPr/>
          <p:nvPr/>
        </p:nvSpPr>
        <p:spPr>
          <a:xfrm>
            <a:off x="8074152" y="4270248"/>
            <a:ext cx="3419856" cy="1371600"/>
          </a:xfrm>
          <a:prstGeom prst="roundRect">
            <a:avLst>
              <a:gd name="adj" fmla="val 6000"/>
            </a:avLst>
          </a:prstGeom>
          <a:solidFill>
            <a:srgbClr val="16283A"/>
          </a:solidFill>
          <a:ln w="12700">
            <a:solidFill>
              <a:srgbClr val="27405A"/>
            </a:solidFill>
            <a:prstDash val="solid"/>
          </a:ln>
        </p:spPr>
      </p:sp>
      <p:sp>
        <p:nvSpPr>
          <p:cNvPr id="41" name="Text 39"/>
          <p:cNvSpPr/>
          <p:nvPr/>
        </p:nvSpPr>
        <p:spPr>
          <a:xfrm>
            <a:off x="8330184" y="4434840"/>
            <a:ext cx="2907792" cy="457200"/>
          </a:xfrm>
          <a:prstGeom prst="rect">
            <a:avLst/>
          </a:prstGeom>
          <a:noFill/>
          <a:ln/>
        </p:spPr>
        <p:txBody>
          <a:bodyPr wrap="square" lIns="0" tIns="0" rIns="0" bIns="0" rtlCol="0" anchor="b"/>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Bygget for partner fra start</a:t>
            </a:r>
            <a:endParaRPr lang="en-US" sz="1250" dirty="0"/>
          </a:p>
        </p:txBody>
      </p:sp>
      <p:sp>
        <p:nvSpPr>
          <p:cNvPr id="42" name="Text 40"/>
          <p:cNvSpPr/>
          <p:nvPr/>
        </p:nvSpPr>
        <p:spPr>
          <a:xfrm>
            <a:off x="8330184" y="4946904"/>
            <a:ext cx="2907792" cy="603504"/>
          </a:xfrm>
          <a:prstGeom prst="rect">
            <a:avLst/>
          </a:prstGeom>
          <a:noFill/>
          <a:ln/>
        </p:spPr>
        <p:txBody>
          <a:bodyPr wrap="square" lIns="0" tIns="0" rIns="0" bIns="0" rtlCol="0" anchor="t"/>
          <a:lstStyle/>
          <a:p>
            <a:pPr algn="l" indent="0" marL="0">
              <a:lnSpc>
                <a:spcPts val="1420"/>
              </a:lnSpc>
              <a:buNone/>
            </a:pPr>
            <a:r>
              <a:rPr lang="en-US" sz="1000" dirty="0">
                <a:solidFill>
                  <a:srgbClr val="9FB3AD"/>
                </a:solidFill>
                <a:latin typeface="Calibri" pitchFamily="34" charset="0"/>
                <a:ea typeface="Calibri" pitchFamily="34" charset="-122"/>
                <a:cs typeface="Calibri" pitchFamily="34" charset="-120"/>
              </a:rPr>
              <a:t>Tenant-isolasjon, white-label, delingslag med tilbaketrekk, webhook uten personopplysninger, OIDC mot selskapets IdP.</a:t>
            </a:r>
            <a:endParaRPr lang="en-US" sz="1000" dirty="0"/>
          </a:p>
        </p:txBody>
      </p:sp>
      <p:sp>
        <p:nvSpPr>
          <p:cNvPr id="43" name="Text 41"/>
          <p:cNvSpPr/>
          <p:nvPr/>
        </p:nvSpPr>
        <p:spPr>
          <a:xfrm>
            <a:off x="685800" y="5897880"/>
            <a:ext cx="9966960" cy="274320"/>
          </a:xfrm>
          <a:prstGeom prst="rect">
            <a:avLst/>
          </a:prstGeom>
          <a:noFill/>
          <a:ln/>
        </p:spPr>
        <p:txBody>
          <a:bodyPr wrap="square" lIns="0" tIns="0" rIns="0" bIns="0" rtlCol="0" anchor="t"/>
          <a:lstStyle/>
          <a:p>
            <a:pPr algn="l" indent="0" marL="0">
              <a:lnSpc>
                <a:spcPts val="1633"/>
              </a:lnSpc>
              <a:buNone/>
            </a:pPr>
            <a:r>
              <a:rPr lang="en-US" sz="1150" dirty="0">
                <a:solidFill>
                  <a:srgbClr val="9FB3AD"/>
                </a:solidFill>
                <a:latin typeface="Calibri" pitchFamily="34" charset="0"/>
                <a:ea typeface="Calibri" pitchFamily="34" charset="-122"/>
                <a:cs typeface="Calibri" pitchFamily="34" charset="-120"/>
              </a:rPr>
              <a:t>Node ≥ 20, Postgres 16, én produksjonsavhengighet. 15 migrasjoner, 19 testfiler over sju testnivåer. Drift i EU/EØS.</a:t>
            </a:r>
            <a:endParaRPr lang="en-US" sz="1150" dirty="0"/>
          </a:p>
        </p:txBody>
      </p:sp>
      <p:sp>
        <p:nvSpPr>
          <p:cNvPr id="44" name="Text 42"/>
          <p:cNvSpPr/>
          <p:nvPr/>
        </p:nvSpPr>
        <p:spPr>
          <a:xfrm>
            <a:off x="685800" y="6217920"/>
            <a:ext cx="9966960" cy="274320"/>
          </a:xfrm>
          <a:prstGeom prst="rect">
            <a:avLst/>
          </a:prstGeom>
          <a:noFill/>
          <a:ln/>
        </p:spPr>
        <p:txBody>
          <a:bodyPr wrap="square" lIns="0" tIns="0" rIns="0" bIns="0" rtlCol="0" anchor="t"/>
          <a:lstStyle/>
          <a:p>
            <a:pPr algn="l" indent="0" marL="0">
              <a:lnSpc>
                <a:spcPts val="1633"/>
              </a:lnSpc>
              <a:buNone/>
            </a:pPr>
            <a:r>
              <a:rPr lang="en-US" sz="1150" dirty="0">
                <a:solidFill>
                  <a:srgbClr val="D9B36B"/>
                </a:solidFill>
                <a:latin typeface="Calibri" pitchFamily="34" charset="0"/>
                <a:ea typeface="Calibri" pitchFamily="34" charset="-122"/>
                <a:cs typeface="Calibri" pitchFamily="34" charset="-120"/>
              </a:rPr>
              <a:t>Ingen av dette er i produksjon med ekte brukere.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PRODUKTET · 1 AV 3</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6</a:t>
            </a:r>
            <a:endParaRPr lang="en-US" sz="900" dirty="0"/>
          </a:p>
        </p:txBody>
      </p:sp>
      <p:sp>
        <p:nvSpPr>
          <p:cNvPr id="4" name="Text 2"/>
          <p:cNvSpPr/>
          <p:nvPr/>
        </p:nvSpPr>
        <p:spPr>
          <a:xfrm>
            <a:off x="685800" y="868680"/>
            <a:ext cx="5669280" cy="868680"/>
          </a:xfrm>
          <a:prstGeom prst="rect">
            <a:avLst/>
          </a:prstGeom>
          <a:noFill/>
          <a:ln/>
        </p:spPr>
        <p:txBody>
          <a:bodyPr wrap="square" lIns="0" tIns="0" rIns="0" bIns="0" rtlCol="0" anchor="t"/>
          <a:lstStyle/>
          <a:p>
            <a:pPr indent="0" marL="0">
              <a:lnSpc>
                <a:spcPts val="3304"/>
              </a:lnSpc>
              <a:buNone/>
            </a:pPr>
            <a:r>
              <a:rPr lang="en-US" sz="2800" b="1" dirty="0">
                <a:solidFill>
                  <a:srgbClr val="EDF2F0"/>
                </a:solidFill>
                <a:latin typeface="Georgia" pitchFamily="34" charset="0"/>
                <a:ea typeface="Georgia" pitchFamily="34" charset="-122"/>
                <a:cs typeface="Georgia" pitchFamily="34" charset="-120"/>
              </a:rPr>
              <a:t>Eieren bestemmer alt mens hen lever</a:t>
            </a:r>
            <a:endParaRPr lang="en-US" sz="2800" dirty="0"/>
          </a:p>
        </p:txBody>
      </p:sp>
      <p:sp>
        <p:nvSpPr>
          <p:cNvPr id="5" name="Text 3"/>
          <p:cNvSpPr/>
          <p:nvPr/>
        </p:nvSpPr>
        <p:spPr>
          <a:xfrm>
            <a:off x="685800" y="1965960"/>
            <a:ext cx="5120640" cy="914400"/>
          </a:xfrm>
          <a:prstGeom prst="rect">
            <a:avLst/>
          </a:prstGeom>
          <a:noFill/>
          <a:ln/>
        </p:spPr>
        <p:txBody>
          <a:bodyPr wrap="square" lIns="0" tIns="0" rIns="0" bIns="0" rtlCol="0" anchor="t"/>
          <a:lstStyle/>
          <a:p>
            <a:pPr algn="l" indent="0" marL="0">
              <a:lnSpc>
                <a:spcPts val="1988"/>
              </a:lnSpc>
              <a:buNone/>
            </a:pPr>
            <a:r>
              <a:rPr lang="en-US" sz="1400" dirty="0">
                <a:solidFill>
                  <a:srgbClr val="9FB3AD"/>
                </a:solidFill>
                <a:latin typeface="Calibri" pitchFamily="34" charset="0"/>
                <a:ea typeface="Calibri" pitchFamily="34" charset="-122"/>
                <a:cs typeface="Calibri" pitchFamily="34" charset="-120"/>
              </a:rPr>
              <a:t>Åtte kategorier — juridisk, forsikring, digitale kontoer, tilgangsinfo, praktisk, og en siste hilsen. Det tar en kveld å fylle ut.</a:t>
            </a:r>
            <a:endParaRPr lang="en-US" sz="1400" dirty="0"/>
          </a:p>
        </p:txBody>
      </p:sp>
      <p:sp>
        <p:nvSpPr>
          <p:cNvPr id="6" name="Shape 4"/>
          <p:cNvSpPr/>
          <p:nvPr/>
        </p:nvSpPr>
        <p:spPr>
          <a:xfrm>
            <a:off x="685800" y="3063240"/>
            <a:ext cx="5120640" cy="1920240"/>
          </a:xfrm>
          <a:prstGeom prst="roundRect">
            <a:avLst>
              <a:gd name="adj" fmla="val 4286"/>
            </a:avLst>
          </a:prstGeom>
          <a:solidFill>
            <a:srgbClr val="16283A"/>
          </a:solidFill>
          <a:ln w="12700">
            <a:solidFill>
              <a:srgbClr val="27405A"/>
            </a:solidFill>
            <a:prstDash val="solid"/>
          </a:ln>
        </p:spPr>
      </p:sp>
      <p:sp>
        <p:nvSpPr>
          <p:cNvPr id="7" name="Text 5"/>
          <p:cNvSpPr/>
          <p:nvPr/>
        </p:nvSpPr>
        <p:spPr>
          <a:xfrm>
            <a:off x="1005840" y="3310128"/>
            <a:ext cx="4480560" cy="237744"/>
          </a:xfrm>
          <a:prstGeom prst="rect">
            <a:avLst/>
          </a:prstGeom>
          <a:noFill/>
          <a:ln/>
        </p:spPr>
        <p:txBody>
          <a:bodyPr wrap="square" lIns="0" tIns="0" rIns="0" bIns="0" rtlCol="0" anchor="ctr"/>
          <a:lstStyle/>
          <a:p>
            <a:pPr indent="0" marL="0">
              <a:buNone/>
            </a:pPr>
            <a:r>
              <a:rPr lang="en-US" sz="900" spc="160" kern="0" dirty="0">
                <a:solidFill>
                  <a:srgbClr val="7FB7A3"/>
                </a:solidFill>
                <a:latin typeface="Courier New" pitchFamily="34" charset="0"/>
                <a:ea typeface="Courier New" pitchFamily="34" charset="-122"/>
                <a:cs typeface="Courier New" pitchFamily="34" charset="-120"/>
              </a:rPr>
              <a:t>FORSKJELLEN FRA EN PASSORDBOKS</a:t>
            </a:r>
            <a:endParaRPr lang="en-US" sz="900" dirty="0"/>
          </a:p>
        </p:txBody>
      </p:sp>
      <p:sp>
        <p:nvSpPr>
          <p:cNvPr id="8" name="Text 6"/>
          <p:cNvSpPr/>
          <p:nvPr/>
        </p:nvSpPr>
        <p:spPr>
          <a:xfrm>
            <a:off x="1005840" y="3657600"/>
            <a:ext cx="4480560" cy="1463040"/>
          </a:xfrm>
          <a:prstGeom prst="rect">
            <a:avLst/>
          </a:prstGeom>
          <a:noFill/>
          <a:ln/>
        </p:spPr>
        <p:txBody>
          <a:bodyPr wrap="square" lIns="0" tIns="0" rIns="0" bIns="0" rtlCol="0" anchor="t"/>
          <a:lstStyle/>
          <a:p>
            <a:pPr algn="l" indent="0" marL="0">
              <a:lnSpc>
                <a:spcPts val="2059"/>
              </a:lnSpc>
              <a:buNone/>
            </a:pPr>
            <a:r>
              <a:rPr lang="en-US" sz="1450" dirty="0">
                <a:solidFill>
                  <a:srgbClr val="EDF2F0"/>
                </a:solidFill>
                <a:latin typeface="Calibri" pitchFamily="34" charset="0"/>
                <a:ea typeface="Calibri" pitchFamily="34" charset="-122"/>
                <a:cs typeface="Calibri" pitchFamily="34" charset="-120"/>
              </a:rPr>
              <a:t>Eieren bestemmer per element hvem som får se hva, og ved hvilken hendelse. Sønnen får det praktiske. Søsteren får brevet. Ingen får alt.</a:t>
            </a:r>
            <a:endParaRPr lang="en-US" sz="1450" dirty="0"/>
          </a:p>
        </p:txBody>
      </p:sp>
      <p:sp>
        <p:nvSpPr>
          <p:cNvPr id="9" name="Shape 7"/>
          <p:cNvSpPr/>
          <p:nvPr/>
        </p:nvSpPr>
        <p:spPr>
          <a:xfrm>
            <a:off x="6565392" y="1124712"/>
            <a:ext cx="2322576" cy="4773168"/>
          </a:xfrm>
          <a:prstGeom prst="roundRect">
            <a:avLst>
              <a:gd name="adj" fmla="val 4724"/>
            </a:avLst>
          </a:prstGeom>
          <a:solidFill>
            <a:srgbClr val="16283A"/>
          </a:solidFill>
          <a:ln w="12700">
            <a:solidFill>
              <a:srgbClr val="27405A"/>
            </a:solidFill>
            <a:prstDash val="solid"/>
          </a:ln>
        </p:spPr>
      </p:sp>
      <p:pic>
        <p:nvPicPr>
          <p:cNvPr id="10" name="Image 0" descr="/tmp/claude-0/-home-user-Eik-sales-repo/e4ee2b0e-596f-5b8f-87ca-a31b6f104195/scratchpad/dekk/hvelv.png">    </p:cNvPr>
          <p:cNvPicPr>
            <a:picLocks noChangeAspect="1"/>
          </p:cNvPicPr>
          <p:nvPr/>
        </p:nvPicPr>
        <p:blipFill>
          <a:blip r:embed="rId1"/>
          <a:stretch>
            <a:fillRect/>
          </a:stretch>
        </p:blipFill>
        <p:spPr>
          <a:xfrm>
            <a:off x="6675120" y="1234440"/>
            <a:ext cx="2103120" cy="4553712"/>
          </a:xfrm>
          <a:prstGeom prst="rect">
            <a:avLst/>
          </a:prstGeom>
        </p:spPr>
      </p:pic>
      <p:sp>
        <p:nvSpPr>
          <p:cNvPr id="11" name="Text 8"/>
          <p:cNvSpPr/>
          <p:nvPr/>
        </p:nvSpPr>
        <p:spPr>
          <a:xfrm>
            <a:off x="6309360" y="6007608"/>
            <a:ext cx="3054096" cy="237744"/>
          </a:xfrm>
          <a:prstGeom prst="rect">
            <a:avLst/>
          </a:prstGeom>
          <a:noFill/>
          <a:ln/>
        </p:spPr>
        <p:txBody>
          <a:bodyPr wrap="square" lIns="0" tIns="0" rIns="0" bIns="0" rtlCol="0" anchor="ctr"/>
          <a:lstStyle/>
          <a:p>
            <a:pPr algn="ctr" indent="0" marL="0">
              <a:buNone/>
            </a:pPr>
            <a:r>
              <a:rPr lang="en-US" sz="800" spc="120" kern="0" dirty="0">
                <a:solidFill>
                  <a:srgbClr val="9FB3AD"/>
                </a:solidFill>
                <a:latin typeface="Courier New" pitchFamily="34" charset="0"/>
                <a:ea typeface="Courier New" pitchFamily="34" charset="-122"/>
                <a:cs typeface="Courier New" pitchFamily="34" charset="-120"/>
              </a:rPr>
              <a:t>Hvelvet</a:t>
            </a:r>
            <a:endParaRPr lang="en-US" sz="800" dirty="0"/>
          </a:p>
        </p:txBody>
      </p:sp>
      <p:sp>
        <p:nvSpPr>
          <p:cNvPr id="12" name="Shape 9"/>
          <p:cNvSpPr/>
          <p:nvPr/>
        </p:nvSpPr>
        <p:spPr>
          <a:xfrm>
            <a:off x="9171432" y="1124712"/>
            <a:ext cx="2322576" cy="4773168"/>
          </a:xfrm>
          <a:prstGeom prst="roundRect">
            <a:avLst>
              <a:gd name="adj" fmla="val 4724"/>
            </a:avLst>
          </a:prstGeom>
          <a:solidFill>
            <a:srgbClr val="16283A"/>
          </a:solidFill>
          <a:ln w="12700">
            <a:solidFill>
              <a:srgbClr val="27405A"/>
            </a:solidFill>
            <a:prstDash val="solid"/>
          </a:ln>
        </p:spPr>
      </p:sp>
      <p:pic>
        <p:nvPicPr>
          <p:cNvPr id="13" name="Image 1" descr="/tmp/claude-0/-home-user-Eik-sales-repo/e4ee2b0e-596f-5b8f-87ca-a31b6f104195/scratchpad/dekk/matrise.png">    </p:cNvPr>
          <p:cNvPicPr>
            <a:picLocks noChangeAspect="1"/>
          </p:cNvPicPr>
          <p:nvPr/>
        </p:nvPicPr>
        <p:blipFill>
          <a:blip r:embed="rId2"/>
          <a:stretch>
            <a:fillRect/>
          </a:stretch>
        </p:blipFill>
        <p:spPr>
          <a:xfrm>
            <a:off x="9281160" y="1234440"/>
            <a:ext cx="2103120" cy="4553712"/>
          </a:xfrm>
          <a:prstGeom prst="rect">
            <a:avLst/>
          </a:prstGeom>
        </p:spPr>
      </p:pic>
      <p:sp>
        <p:nvSpPr>
          <p:cNvPr id="14" name="Text 10"/>
          <p:cNvSpPr/>
          <p:nvPr/>
        </p:nvSpPr>
        <p:spPr>
          <a:xfrm>
            <a:off x="8915400" y="6007608"/>
            <a:ext cx="3054096" cy="237744"/>
          </a:xfrm>
          <a:prstGeom prst="rect">
            <a:avLst/>
          </a:prstGeom>
          <a:noFill/>
          <a:ln/>
        </p:spPr>
        <p:txBody>
          <a:bodyPr wrap="square" lIns="0" tIns="0" rIns="0" bIns="0" rtlCol="0" anchor="ctr"/>
          <a:lstStyle/>
          <a:p>
            <a:pPr algn="ctr" indent="0" marL="0">
              <a:buNone/>
            </a:pPr>
            <a:r>
              <a:rPr lang="en-US" sz="800" spc="120" kern="0" dirty="0">
                <a:solidFill>
                  <a:srgbClr val="9FB3AD"/>
                </a:solidFill>
                <a:latin typeface="Courier New" pitchFamily="34" charset="0"/>
                <a:ea typeface="Courier New" pitchFamily="34" charset="-122"/>
                <a:cs typeface="Courier New" pitchFamily="34" charset="-120"/>
              </a:rPr>
              <a:t>Hvem får hva</a:t>
            </a:r>
            <a:endParaRPr lang="en-US" sz="800" dirty="0"/>
          </a:p>
        </p:txBody>
      </p:sp>
      <p:sp>
        <p:nvSpPr>
          <p:cNvPr id="15" name="Text 11"/>
          <p:cNvSpPr/>
          <p:nvPr/>
        </p:nvSpPr>
        <p:spPr>
          <a:xfrm>
            <a:off x="685800" y="6400800"/>
            <a:ext cx="10180015" cy="411480"/>
          </a:xfrm>
          <a:prstGeom prst="rect">
            <a:avLst/>
          </a:prstGeom>
          <a:noFill/>
          <a:ln/>
        </p:spPr>
        <p:txBody>
          <a:bodyPr wrap="square" lIns="0" tIns="0" rIns="0" bIns="0" rtlCol="0" anchor="t"/>
          <a:lstStyle/>
          <a:p>
            <a:pPr indent="0" marL="0">
              <a:lnSpc>
                <a:spcPts val="1200"/>
              </a:lnSpc>
              <a:buNone/>
            </a:pPr>
            <a:r>
              <a:rPr lang="en-US" sz="900" dirty="0">
                <a:solidFill>
                  <a:srgbClr val="6E8794"/>
                </a:solidFill>
                <a:latin typeface="Calibri" pitchFamily="34" charset="0"/>
                <a:ea typeface="Calibri" pitchFamily="34" charset="-122"/>
                <a:cs typeface="Calibri" pitchFamily="34" charset="-120"/>
              </a:rPr>
              <a:t>SKJERMBILDE FRA APPEN · DEMODATA · 390×844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PRODUKTET · 2 AV 3</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7</a:t>
            </a:r>
            <a:endParaRPr lang="en-US" sz="900" dirty="0"/>
          </a:p>
        </p:txBody>
      </p:sp>
      <p:sp>
        <p:nvSpPr>
          <p:cNvPr id="4" name="Text 2"/>
          <p:cNvSpPr/>
          <p:nvPr/>
        </p:nvSpPr>
        <p:spPr>
          <a:xfrm>
            <a:off x="685800" y="868680"/>
            <a:ext cx="6949440" cy="868680"/>
          </a:xfrm>
          <a:prstGeom prst="rect">
            <a:avLst/>
          </a:prstGeom>
          <a:noFill/>
          <a:ln/>
        </p:spPr>
        <p:txBody>
          <a:bodyPr wrap="square" lIns="0" tIns="0" rIns="0" bIns="0" rtlCol="0" anchor="t"/>
          <a:lstStyle/>
          <a:p>
            <a:pPr indent="0" marL="0">
              <a:lnSpc>
                <a:spcPts val="3304"/>
              </a:lnSpc>
              <a:buNone/>
            </a:pPr>
            <a:r>
              <a:rPr lang="en-US" sz="2800" b="1" dirty="0">
                <a:solidFill>
                  <a:srgbClr val="EDF2F0"/>
                </a:solidFill>
                <a:latin typeface="Georgia" pitchFamily="34" charset="0"/>
                <a:ea typeface="Georgia" pitchFamily="34" charset="-122"/>
                <a:cs typeface="Georgia" pitchFamily="34" charset="-120"/>
              </a:rPr>
              <a:t>48 timer der eieren kan stoppe alt</a:t>
            </a:r>
            <a:endParaRPr lang="en-US" sz="2800" dirty="0"/>
          </a:p>
        </p:txBody>
      </p:sp>
      <p:sp>
        <p:nvSpPr>
          <p:cNvPr id="5" name="Text 3"/>
          <p:cNvSpPr/>
          <p:nvPr/>
        </p:nvSpPr>
        <p:spPr>
          <a:xfrm>
            <a:off x="685800" y="1965960"/>
            <a:ext cx="6583680" cy="1005840"/>
          </a:xfrm>
          <a:prstGeom prst="rect">
            <a:avLst/>
          </a:prstGeom>
          <a:noFill/>
          <a:ln/>
        </p:spPr>
        <p:txBody>
          <a:bodyPr wrap="square" lIns="0" tIns="0" rIns="0" bIns="0" rtlCol="0" anchor="t"/>
          <a:lstStyle/>
          <a:p>
            <a:pPr algn="l" indent="0" marL="0">
              <a:lnSpc>
                <a:spcPts val="2130"/>
              </a:lnSpc>
              <a:buNone/>
            </a:pPr>
            <a:r>
              <a:rPr lang="en-US" sz="1500" dirty="0">
                <a:solidFill>
                  <a:srgbClr val="EDF2F0"/>
                </a:solidFill>
                <a:latin typeface="Calibri" pitchFamily="34" charset="0"/>
                <a:ea typeface="Calibri" pitchFamily="34" charset="-122"/>
                <a:cs typeface="Calibri" pitchFamily="34" charset="-120"/>
              </a:rPr>
              <a:t>Kari lever. Noen har meldt henne død — det skjer, ved forveksling og ved vondskap. Hun har 48 timer, og én knapp. Og hun ser nøyaktig hvor langt det er kommet.</a:t>
            </a:r>
            <a:endParaRPr lang="en-US" sz="1500" dirty="0"/>
          </a:p>
        </p:txBody>
      </p:sp>
      <p:sp>
        <p:nvSpPr>
          <p:cNvPr id="6" name="Shape 4"/>
          <p:cNvSpPr/>
          <p:nvPr/>
        </p:nvSpPr>
        <p:spPr>
          <a:xfrm>
            <a:off x="685800" y="3154680"/>
            <a:ext cx="6583680" cy="1097280"/>
          </a:xfrm>
          <a:prstGeom prst="roundRect">
            <a:avLst>
              <a:gd name="adj" fmla="val 7500"/>
            </a:avLst>
          </a:prstGeom>
          <a:solidFill>
            <a:srgbClr val="16283A"/>
          </a:solidFill>
          <a:ln w="12700">
            <a:solidFill>
              <a:srgbClr val="27405A"/>
            </a:solidFill>
            <a:prstDash val="solid"/>
          </a:ln>
        </p:spPr>
      </p:sp>
      <p:sp>
        <p:nvSpPr>
          <p:cNvPr id="7" name="Text 5"/>
          <p:cNvSpPr/>
          <p:nvPr/>
        </p:nvSpPr>
        <p:spPr>
          <a:xfrm>
            <a:off x="1005840" y="3401568"/>
            <a:ext cx="5943600" cy="731520"/>
          </a:xfrm>
          <a:prstGeom prst="rect">
            <a:avLst/>
          </a:prstGeom>
          <a:noFill/>
          <a:ln/>
        </p:spPr>
        <p:txBody>
          <a:bodyPr wrap="square" lIns="0" tIns="0" rIns="0" bIns="0" rtlCol="0" anchor="t"/>
          <a:lstStyle/>
          <a:p>
            <a:pPr algn="l" indent="0" marL="0">
              <a:lnSpc>
                <a:spcPts val="1917"/>
              </a:lnSpc>
              <a:buNone/>
            </a:pPr>
            <a:r>
              <a:rPr lang="en-US" sz="1350" dirty="0">
                <a:solidFill>
                  <a:srgbClr val="9FB3AD"/>
                </a:solidFill>
                <a:latin typeface="Calibri" pitchFamily="34" charset="0"/>
                <a:ea typeface="Calibri" pitchFamily="34" charset="-122"/>
                <a:cs typeface="Calibri" pitchFamily="34" charset="-120"/>
              </a:rPr>
              <a:t>Å stoppe er en terminaltilstand. Saken kan ikke gjenopplives — den som mener hun er død, må melde på nytt og gå gjennom hele løpet igjen.</a:t>
            </a:r>
            <a:endParaRPr lang="en-US" sz="1350" dirty="0"/>
          </a:p>
        </p:txBody>
      </p:sp>
      <p:sp>
        <p:nvSpPr>
          <p:cNvPr id="8" name="Shape 6"/>
          <p:cNvSpPr/>
          <p:nvPr/>
        </p:nvSpPr>
        <p:spPr>
          <a:xfrm>
            <a:off x="685800" y="4434840"/>
            <a:ext cx="6583680" cy="1600200"/>
          </a:xfrm>
          <a:prstGeom prst="roundRect">
            <a:avLst>
              <a:gd name="adj" fmla="val 5143"/>
            </a:avLst>
          </a:prstGeom>
          <a:solidFill>
            <a:srgbClr val="16283A"/>
          </a:solidFill>
          <a:ln w="12700">
            <a:solidFill>
              <a:srgbClr val="27405A"/>
            </a:solidFill>
            <a:prstDash val="solid"/>
          </a:ln>
        </p:spPr>
      </p:sp>
      <p:sp>
        <p:nvSpPr>
          <p:cNvPr id="9" name="Text 7"/>
          <p:cNvSpPr/>
          <p:nvPr/>
        </p:nvSpPr>
        <p:spPr>
          <a:xfrm>
            <a:off x="1005840" y="4663440"/>
            <a:ext cx="5943600" cy="237744"/>
          </a:xfrm>
          <a:prstGeom prst="rect">
            <a:avLst/>
          </a:prstGeom>
          <a:noFill/>
          <a:ln/>
        </p:spPr>
        <p:txBody>
          <a:bodyPr wrap="square" lIns="0" tIns="0" rIns="0" bIns="0" rtlCol="0" anchor="ctr"/>
          <a:lstStyle/>
          <a:p>
            <a:pPr indent="0" marL="0">
              <a:buNone/>
            </a:pPr>
            <a:r>
              <a:rPr lang="en-US" sz="900" spc="160" kern="0" dirty="0">
                <a:solidFill>
                  <a:srgbClr val="D9B36B"/>
                </a:solidFill>
                <a:latin typeface="Courier New" pitchFamily="34" charset="0"/>
                <a:ea typeface="Courier New" pitchFamily="34" charset="-122"/>
                <a:cs typeface="Courier New" pitchFamily="34" charset="-120"/>
              </a:rPr>
              <a:t>HVORFOR DETTE ER NOE ANNET ENN NØDTILGANG</a:t>
            </a:r>
            <a:endParaRPr lang="en-US" sz="900" dirty="0"/>
          </a:p>
        </p:txBody>
      </p:sp>
      <p:sp>
        <p:nvSpPr>
          <p:cNvPr id="10" name="Text 8"/>
          <p:cNvSpPr/>
          <p:nvPr/>
        </p:nvSpPr>
        <p:spPr>
          <a:xfrm>
            <a:off x="1005840" y="5010912"/>
            <a:ext cx="5943600" cy="914400"/>
          </a:xfrm>
          <a:prstGeom prst="rect">
            <a:avLst/>
          </a:prstGeom>
          <a:noFill/>
          <a:ln/>
        </p:spPr>
        <p:txBody>
          <a:bodyPr wrap="square" lIns="0" tIns="0" rIns="0" bIns="0" rtlCol="0" anchor="t"/>
          <a:lstStyle/>
          <a:p>
            <a:pPr algn="l" indent="0" marL="0">
              <a:lnSpc>
                <a:spcPts val="1846"/>
              </a:lnSpc>
              <a:buNone/>
            </a:pPr>
            <a:r>
              <a:rPr lang="en-US" sz="1300" dirty="0">
                <a:solidFill>
                  <a:srgbClr val="EDF2F0"/>
                </a:solidFill>
                <a:latin typeface="Calibri" pitchFamily="34" charset="0"/>
                <a:ea typeface="Calibri" pitchFamily="34" charset="-122"/>
                <a:cs typeface="Calibri" pitchFamily="34" charset="-120"/>
              </a:rPr>
              <a:t>Bitwarden, 1Password, Apple, Google og Meta har alle legacy-mekanismer. Felles for dem: frigivelsen utløses av at eieren ikke svarte. Vår utløses av et verifisert dødsfall godkjent av to mennesker.</a:t>
            </a:r>
            <a:endParaRPr lang="en-US" sz="1300" dirty="0"/>
          </a:p>
        </p:txBody>
      </p:sp>
      <p:sp>
        <p:nvSpPr>
          <p:cNvPr id="11" name="Shape 9"/>
          <p:cNvSpPr/>
          <p:nvPr/>
        </p:nvSpPr>
        <p:spPr>
          <a:xfrm>
            <a:off x="8485632" y="1124712"/>
            <a:ext cx="2322576" cy="4773168"/>
          </a:xfrm>
          <a:prstGeom prst="roundRect">
            <a:avLst>
              <a:gd name="adj" fmla="val 4724"/>
            </a:avLst>
          </a:prstGeom>
          <a:solidFill>
            <a:srgbClr val="16283A"/>
          </a:solidFill>
          <a:ln w="12700">
            <a:solidFill>
              <a:srgbClr val="27405A"/>
            </a:solidFill>
            <a:prstDash val="solid"/>
          </a:ln>
        </p:spPr>
      </p:sp>
      <p:pic>
        <p:nvPicPr>
          <p:cNvPr id="12" name="Image 0" descr="/tmp/claude-0/-home-user-Eik-sales-repo/e4ee2b0e-596f-5b8f-87ca-a31b6f104195/scratchpad/dekk/status.png">    </p:cNvPr>
          <p:cNvPicPr>
            <a:picLocks noChangeAspect="1"/>
          </p:cNvPicPr>
          <p:nvPr/>
        </p:nvPicPr>
        <p:blipFill>
          <a:blip r:embed="rId1"/>
          <a:stretch>
            <a:fillRect/>
          </a:stretch>
        </p:blipFill>
        <p:spPr>
          <a:xfrm>
            <a:off x="8595360" y="1234440"/>
            <a:ext cx="2103120" cy="4553712"/>
          </a:xfrm>
          <a:prstGeom prst="rect">
            <a:avLst/>
          </a:prstGeom>
        </p:spPr>
      </p:pic>
      <p:sp>
        <p:nvSpPr>
          <p:cNvPr id="13" name="Text 10"/>
          <p:cNvSpPr/>
          <p:nvPr/>
        </p:nvSpPr>
        <p:spPr>
          <a:xfrm>
            <a:off x="685800" y="6400800"/>
            <a:ext cx="10180015" cy="411480"/>
          </a:xfrm>
          <a:prstGeom prst="rect">
            <a:avLst/>
          </a:prstGeom>
          <a:noFill/>
          <a:ln/>
        </p:spPr>
        <p:txBody>
          <a:bodyPr wrap="square" lIns="0" tIns="0" rIns="0" bIns="0" rtlCol="0" anchor="t"/>
          <a:lstStyle/>
          <a:p>
            <a:pPr indent="0" marL="0">
              <a:lnSpc>
                <a:spcPts val="1200"/>
              </a:lnSpc>
              <a:buNone/>
            </a:pPr>
            <a:r>
              <a:rPr lang="en-US" sz="900" dirty="0">
                <a:solidFill>
                  <a:srgbClr val="6E8794"/>
                </a:solidFill>
                <a:latin typeface="Calibri" pitchFamily="34" charset="0"/>
                <a:ea typeface="Calibri" pitchFamily="34" charset="-122"/>
                <a:cs typeface="Calibri" pitchFamily="34" charset="-120"/>
              </a:rPr>
              <a:t>SKJERMBILDE FRA APPEN · DEMODATA · 390×844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PRODUKTET · 3 AV 3</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8</a:t>
            </a:r>
            <a:endParaRPr lang="en-US" sz="900" dirty="0"/>
          </a:p>
        </p:txBody>
      </p:sp>
      <p:sp>
        <p:nvSpPr>
          <p:cNvPr id="4" name="Text 2"/>
          <p:cNvSpPr/>
          <p:nvPr/>
        </p:nvSpPr>
        <p:spPr>
          <a:xfrm>
            <a:off x="685800" y="868680"/>
            <a:ext cx="6949440" cy="868680"/>
          </a:xfrm>
          <a:prstGeom prst="rect">
            <a:avLst/>
          </a:prstGeom>
          <a:noFill/>
          <a:ln/>
        </p:spPr>
        <p:txBody>
          <a:bodyPr wrap="square" lIns="0" tIns="0" rIns="0" bIns="0" rtlCol="0" anchor="t"/>
          <a:lstStyle/>
          <a:p>
            <a:pPr indent="0" marL="0">
              <a:lnSpc>
                <a:spcPts val="3304"/>
              </a:lnSpc>
              <a:buNone/>
            </a:pPr>
            <a:r>
              <a:rPr lang="en-US" sz="2800" b="1" dirty="0">
                <a:solidFill>
                  <a:srgbClr val="EDF2F0"/>
                </a:solidFill>
                <a:latin typeface="Georgia" pitchFamily="34" charset="0"/>
                <a:ea typeface="Georgia" pitchFamily="34" charset="-122"/>
                <a:cs typeface="Georgia" pitchFamily="34" charset="-120"/>
              </a:rPr>
              <a:t>Den eneste skjermen et menneske</a:t>
            </a:r>
            <a:endParaRPr lang="en-US" sz="2800" dirty="0"/>
          </a:p>
          <a:p>
            <a:pPr indent="0" marL="0">
              <a:lnSpc>
                <a:spcPts val="3304"/>
              </a:lnSpc>
              <a:buNone/>
            </a:pPr>
            <a:r>
              <a:rPr lang="en-US" sz="2800" b="1" dirty="0">
                <a:solidFill>
                  <a:srgbClr val="EDF2F0"/>
                </a:solidFill>
                <a:latin typeface="Georgia" pitchFamily="34" charset="0"/>
                <a:ea typeface="Georgia" pitchFamily="34" charset="-122"/>
                <a:cs typeface="Georgia" pitchFamily="34" charset="-120"/>
              </a:rPr>
              <a:t>i sorg faktisk møter</a:t>
            </a:r>
            <a:endParaRPr lang="en-US" sz="2800" dirty="0"/>
          </a:p>
        </p:txBody>
      </p:sp>
      <p:sp>
        <p:nvSpPr>
          <p:cNvPr id="5" name="Text 3"/>
          <p:cNvSpPr/>
          <p:nvPr/>
        </p:nvSpPr>
        <p:spPr>
          <a:xfrm>
            <a:off x="685800" y="2331720"/>
            <a:ext cx="6583680" cy="731520"/>
          </a:xfrm>
          <a:prstGeom prst="rect">
            <a:avLst/>
          </a:prstGeom>
          <a:noFill/>
          <a:ln/>
        </p:spPr>
        <p:txBody>
          <a:bodyPr wrap="square" lIns="0" tIns="0" rIns="0" bIns="0" rtlCol="0" anchor="t"/>
          <a:lstStyle/>
          <a:p>
            <a:pPr algn="l" indent="0" marL="0">
              <a:lnSpc>
                <a:spcPts val="2130"/>
              </a:lnSpc>
              <a:buNone/>
            </a:pPr>
            <a:r>
              <a:rPr lang="en-US" sz="1500" dirty="0">
                <a:solidFill>
                  <a:srgbClr val="EDF2F0"/>
                </a:solidFill>
                <a:latin typeface="Calibri" pitchFamily="34" charset="0"/>
                <a:ea typeface="Calibri" pitchFamily="34" charset="-122"/>
                <a:cs typeface="Calibri" pitchFamily="34" charset="-120"/>
              </a:rPr>
              <a:t>Derfor ser den ikke ut som resten av produktet. Ingen dashbord, ingen tall, ingen oppgaveliste på førti punkter.</a:t>
            </a:r>
            <a:endParaRPr lang="en-US" sz="1500" dirty="0"/>
          </a:p>
        </p:txBody>
      </p:sp>
      <p:sp>
        <p:nvSpPr>
          <p:cNvPr id="6" name="Shape 4"/>
          <p:cNvSpPr/>
          <p:nvPr/>
        </p:nvSpPr>
        <p:spPr>
          <a:xfrm>
            <a:off x="685800" y="3246120"/>
            <a:ext cx="6583680" cy="1234440"/>
          </a:xfrm>
          <a:prstGeom prst="roundRect">
            <a:avLst>
              <a:gd name="adj" fmla="val 6667"/>
            </a:avLst>
          </a:prstGeom>
          <a:solidFill>
            <a:srgbClr val="16283A"/>
          </a:solidFill>
          <a:ln w="12700">
            <a:solidFill>
              <a:srgbClr val="27405A"/>
            </a:solidFill>
            <a:prstDash val="solid"/>
          </a:ln>
        </p:spPr>
      </p:sp>
      <p:sp>
        <p:nvSpPr>
          <p:cNvPr id="7" name="Text 5"/>
          <p:cNvSpPr/>
          <p:nvPr/>
        </p:nvSpPr>
        <p:spPr>
          <a:xfrm>
            <a:off x="1005840" y="3520440"/>
            <a:ext cx="5943600" cy="731520"/>
          </a:xfrm>
          <a:prstGeom prst="rect">
            <a:avLst/>
          </a:prstGeom>
          <a:noFill/>
          <a:ln/>
        </p:spPr>
        <p:txBody>
          <a:bodyPr wrap="square" lIns="0" tIns="0" rIns="0" bIns="0" rtlCol="0" anchor="t"/>
          <a:lstStyle/>
          <a:p>
            <a:pPr algn="l" indent="0" marL="0">
              <a:lnSpc>
                <a:spcPts val="2059"/>
              </a:lnSpc>
              <a:buNone/>
            </a:pPr>
            <a:r>
              <a:rPr lang="en-US" sz="1450" i="1" dirty="0">
                <a:solidFill>
                  <a:srgbClr val="EDF2F0"/>
                </a:solidFill>
                <a:latin typeface="Georgia" pitchFamily="34" charset="0"/>
                <a:ea typeface="Georgia" pitchFamily="34" charset="-122"/>
                <a:cs typeface="Georgia" pitchFamily="34" charset="-120"/>
              </a:rPr>
              <a:t>Alt annet i produktet er noe eieren gjorde en gang, i ro. Hvis denne flaten ikke virker, virker ingenting.</a:t>
            </a:r>
            <a:endParaRPr lang="en-US" sz="1450" dirty="0"/>
          </a:p>
        </p:txBody>
      </p:sp>
      <p:sp>
        <p:nvSpPr>
          <p:cNvPr id="8" name="Shape 6"/>
          <p:cNvSpPr/>
          <p:nvPr/>
        </p:nvSpPr>
        <p:spPr>
          <a:xfrm>
            <a:off x="685800" y="4663440"/>
            <a:ext cx="6583680" cy="1371600"/>
          </a:xfrm>
          <a:prstGeom prst="roundRect">
            <a:avLst>
              <a:gd name="adj" fmla="val 6000"/>
            </a:avLst>
          </a:prstGeom>
          <a:solidFill>
            <a:srgbClr val="16283A"/>
          </a:solidFill>
          <a:ln w="12700">
            <a:solidFill>
              <a:srgbClr val="27405A"/>
            </a:solidFill>
            <a:prstDash val="solid"/>
          </a:ln>
        </p:spPr>
      </p:sp>
      <p:sp>
        <p:nvSpPr>
          <p:cNvPr id="9" name="Text 7"/>
          <p:cNvSpPr/>
          <p:nvPr/>
        </p:nvSpPr>
        <p:spPr>
          <a:xfrm>
            <a:off x="1005840" y="4892040"/>
            <a:ext cx="5943600" cy="237744"/>
          </a:xfrm>
          <a:prstGeom prst="rect">
            <a:avLst/>
          </a:prstGeom>
          <a:noFill/>
          <a:ln/>
        </p:spPr>
        <p:txBody>
          <a:bodyPr wrap="square" lIns="0" tIns="0" rIns="0" bIns="0" rtlCol="0" anchor="ctr"/>
          <a:lstStyle/>
          <a:p>
            <a:pPr indent="0" marL="0">
              <a:buNone/>
            </a:pPr>
            <a:r>
              <a:rPr lang="en-US" sz="900" spc="160" kern="0" dirty="0">
                <a:solidFill>
                  <a:srgbClr val="D9B36B"/>
                </a:solidFill>
                <a:latin typeface="Courier New" pitchFamily="34" charset="0"/>
                <a:ea typeface="Courier New" pitchFamily="34" charset="-122"/>
                <a:cs typeface="Courier New" pitchFamily="34" charset="-120"/>
              </a:rPr>
              <a:t>ÅPENT: IKKE PRØVD I FELT</a:t>
            </a:r>
            <a:endParaRPr lang="en-US" sz="900" dirty="0"/>
          </a:p>
        </p:txBody>
      </p:sp>
      <p:sp>
        <p:nvSpPr>
          <p:cNvPr id="10" name="Text 8"/>
          <p:cNvSpPr/>
          <p:nvPr/>
        </p:nvSpPr>
        <p:spPr>
          <a:xfrm>
            <a:off x="1005840" y="5230368"/>
            <a:ext cx="5943600" cy="685800"/>
          </a:xfrm>
          <a:prstGeom prst="rect">
            <a:avLst/>
          </a:prstGeom>
          <a:noFill/>
          <a:ln/>
        </p:spPr>
        <p:txBody>
          <a:bodyPr wrap="square" lIns="0" tIns="0" rIns="0" bIns="0" rtlCol="0" anchor="t"/>
          <a:lstStyle/>
          <a:p>
            <a:pPr algn="l" indent="0" marL="0">
              <a:lnSpc>
                <a:spcPts val="1846"/>
              </a:lnSpc>
              <a:buNone/>
            </a:pPr>
            <a:r>
              <a:rPr lang="en-US" sz="1300" dirty="0">
                <a:solidFill>
                  <a:srgbClr val="9FB3AD"/>
                </a:solidFill>
                <a:latin typeface="Calibri" pitchFamily="34" charset="0"/>
                <a:ea typeface="Calibri" pitchFamily="34" charset="-122"/>
                <a:cs typeface="Calibri" pitchFamily="34" charset="-120"/>
              </a:rPr>
              <a:t>Vi har ikke sett en faktisk pårørende bruke dette i uken etter et dødsfall. Derfor er etterlatte-kontrollpanelet tiltak nummer én i roadmapen, foran alt annet.</a:t>
            </a:r>
            <a:endParaRPr lang="en-US" sz="1300" dirty="0"/>
          </a:p>
        </p:txBody>
      </p:sp>
      <p:sp>
        <p:nvSpPr>
          <p:cNvPr id="11" name="Shape 9"/>
          <p:cNvSpPr/>
          <p:nvPr/>
        </p:nvSpPr>
        <p:spPr>
          <a:xfrm>
            <a:off x="8485632" y="1124712"/>
            <a:ext cx="2322576" cy="4773168"/>
          </a:xfrm>
          <a:prstGeom prst="roundRect">
            <a:avLst>
              <a:gd name="adj" fmla="val 4724"/>
            </a:avLst>
          </a:prstGeom>
          <a:solidFill>
            <a:srgbClr val="16283A"/>
          </a:solidFill>
          <a:ln w="12700">
            <a:solidFill>
              <a:srgbClr val="27405A"/>
            </a:solidFill>
            <a:prstDash val="solid"/>
          </a:ln>
        </p:spPr>
      </p:sp>
      <p:pic>
        <p:nvPicPr>
          <p:cNvPr id="12" name="Image 0" descr="/tmp/claude-0/-home-user-Eik-sales-repo/e4ee2b0e-596f-5b8f-87ca-a31b6f104195/scratchpad/dekk/etterlatt.png">    </p:cNvPr>
          <p:cNvPicPr>
            <a:picLocks noChangeAspect="1"/>
          </p:cNvPicPr>
          <p:nvPr/>
        </p:nvPicPr>
        <p:blipFill>
          <a:blip r:embed="rId1"/>
          <a:stretch>
            <a:fillRect/>
          </a:stretch>
        </p:blipFill>
        <p:spPr>
          <a:xfrm>
            <a:off x="8595360" y="1234440"/>
            <a:ext cx="2103120" cy="4553712"/>
          </a:xfrm>
          <a:prstGeom prst="rect">
            <a:avLst/>
          </a:prstGeom>
        </p:spPr>
      </p:pic>
      <p:sp>
        <p:nvSpPr>
          <p:cNvPr id="13" name="Text 10"/>
          <p:cNvSpPr/>
          <p:nvPr/>
        </p:nvSpPr>
        <p:spPr>
          <a:xfrm>
            <a:off x="685800" y="6400800"/>
            <a:ext cx="10180015" cy="411480"/>
          </a:xfrm>
          <a:prstGeom prst="rect">
            <a:avLst/>
          </a:prstGeom>
          <a:noFill/>
          <a:ln/>
        </p:spPr>
        <p:txBody>
          <a:bodyPr wrap="square" lIns="0" tIns="0" rIns="0" bIns="0" rtlCol="0" anchor="t"/>
          <a:lstStyle/>
          <a:p>
            <a:pPr indent="0" marL="0">
              <a:lnSpc>
                <a:spcPts val="1200"/>
              </a:lnSpc>
              <a:buNone/>
            </a:pPr>
            <a:r>
              <a:rPr lang="en-US" sz="900" dirty="0">
                <a:solidFill>
                  <a:srgbClr val="6E8794"/>
                </a:solidFill>
                <a:latin typeface="Calibri" pitchFamily="34" charset="0"/>
                <a:ea typeface="Calibri" pitchFamily="34" charset="-122"/>
                <a:cs typeface="Calibri" pitchFamily="34" charset="-120"/>
              </a:rPr>
              <a:t>SKJERMBILDE FRA APPEN · DEMODATA · 390×844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VOLLGRAVEN</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9</a:t>
            </a:r>
            <a:endParaRPr lang="en-US" sz="900" dirty="0"/>
          </a:p>
        </p:txBody>
      </p:sp>
      <p:sp>
        <p:nvSpPr>
          <p:cNvPr id="4" name="Text 2"/>
          <p:cNvSpPr/>
          <p:nvPr/>
        </p:nvSpPr>
        <p:spPr>
          <a:xfrm>
            <a:off x="685800" y="868680"/>
            <a:ext cx="10058400" cy="868680"/>
          </a:xfrm>
          <a:prstGeom prst="rect">
            <a:avLst/>
          </a:prstGeom>
          <a:noFill/>
          <a:ln/>
        </p:spPr>
        <p:txBody>
          <a:bodyPr wrap="square" lIns="0" tIns="0" rIns="0" bIns="0" rtlCol="0" anchor="t"/>
          <a:lstStyle/>
          <a:p>
            <a:pPr indent="0" marL="0">
              <a:lnSpc>
                <a:spcPts val="3540"/>
              </a:lnSpc>
              <a:buNone/>
            </a:pPr>
            <a:r>
              <a:rPr lang="en-US" sz="3000" b="1" dirty="0">
                <a:solidFill>
                  <a:srgbClr val="EDF2F0"/>
                </a:solidFill>
                <a:latin typeface="Georgia" pitchFamily="34" charset="0"/>
                <a:ea typeface="Georgia" pitchFamily="34" charset="-122"/>
                <a:cs typeface="Georgia" pitchFamily="34" charset="-120"/>
              </a:rPr>
              <a:t>Det vanskelige er rekkefølgen</a:t>
            </a:r>
            <a:endParaRPr lang="en-US" sz="3000" dirty="0"/>
          </a:p>
        </p:txBody>
      </p:sp>
      <p:sp>
        <p:nvSpPr>
          <p:cNvPr id="5" name="Text 3"/>
          <p:cNvSpPr/>
          <p:nvPr/>
        </p:nvSpPr>
        <p:spPr>
          <a:xfrm>
            <a:off x="685800" y="1783080"/>
            <a:ext cx="10424160" cy="777240"/>
          </a:xfrm>
          <a:prstGeom prst="rect">
            <a:avLst/>
          </a:prstGeom>
          <a:noFill/>
          <a:ln/>
        </p:spPr>
        <p:txBody>
          <a:bodyPr wrap="square" lIns="0" tIns="0" rIns="0" bIns="0" rtlCol="0" anchor="t"/>
          <a:lstStyle/>
          <a:p>
            <a:pPr algn="l" indent="0" marL="0">
              <a:lnSpc>
                <a:spcPts val="1917"/>
              </a:lnSpc>
              <a:buNone/>
            </a:pPr>
            <a:r>
              <a:rPr lang="en-US" sz="1350" dirty="0">
                <a:solidFill>
                  <a:srgbClr val="9FB3AD"/>
                </a:solidFill>
                <a:latin typeface="Calibri" pitchFamily="34" charset="0"/>
                <a:ea typeface="Calibri" pitchFamily="34" charset="-122"/>
                <a:cs typeface="Calibri" pitchFamily="34" charset="-120"/>
              </a:rPr>
              <a:t>Hver del hver for seg er kjent teknologi. Kryptering i nettleseren er en helg. En ventetid er en kolonne. To godkjennere er en if. Systemet må gjøre to motsatte ting samtidig: aldri frigi for tidlig, og alltid frigi til slutt.</a:t>
            </a:r>
            <a:endParaRPr lang="en-US" sz="1350" dirty="0"/>
          </a:p>
        </p:txBody>
      </p:sp>
      <p:sp>
        <p:nvSpPr>
          <p:cNvPr id="6" name="Text 4"/>
          <p:cNvSpPr/>
          <p:nvPr/>
        </p:nvSpPr>
        <p:spPr>
          <a:xfrm>
            <a:off x="1097280" y="2633472"/>
            <a:ext cx="4206240" cy="219456"/>
          </a:xfrm>
          <a:prstGeom prst="rect">
            <a:avLst/>
          </a:prstGeom>
          <a:noFill/>
          <a:ln/>
        </p:spPr>
        <p:txBody>
          <a:bodyPr wrap="square" lIns="0" tIns="0" rIns="0" bIns="0" rtlCol="0" anchor="ctr"/>
          <a:lstStyle/>
          <a:p>
            <a:pPr indent="0" marL="0">
              <a:buNone/>
            </a:pPr>
            <a:r>
              <a:rPr lang="en-US" sz="850" spc="160" kern="0" dirty="0">
                <a:solidFill>
                  <a:srgbClr val="7FB7A3"/>
                </a:solidFill>
                <a:latin typeface="Courier New" pitchFamily="34" charset="0"/>
                <a:ea typeface="Courier New" pitchFamily="34" charset="-122"/>
                <a:cs typeface="Courier New" pitchFamily="34" charset="-120"/>
              </a:rPr>
              <a:t>LEDD</a:t>
            </a:r>
            <a:endParaRPr lang="en-US" sz="850" dirty="0"/>
          </a:p>
        </p:txBody>
      </p:sp>
      <p:sp>
        <p:nvSpPr>
          <p:cNvPr id="7" name="Text 5"/>
          <p:cNvSpPr/>
          <p:nvPr/>
        </p:nvSpPr>
        <p:spPr>
          <a:xfrm>
            <a:off x="5806440" y="2633472"/>
            <a:ext cx="5669280" cy="219456"/>
          </a:xfrm>
          <a:prstGeom prst="rect">
            <a:avLst/>
          </a:prstGeom>
          <a:noFill/>
          <a:ln/>
        </p:spPr>
        <p:txBody>
          <a:bodyPr wrap="square" lIns="0" tIns="0" rIns="0" bIns="0" rtlCol="0" anchor="ctr"/>
          <a:lstStyle/>
          <a:p>
            <a:pPr indent="0" marL="0">
              <a:buNone/>
            </a:pPr>
            <a:r>
              <a:rPr lang="en-US" sz="850" spc="160" kern="0" dirty="0">
                <a:solidFill>
                  <a:srgbClr val="D9777B"/>
                </a:solidFill>
                <a:latin typeface="Courier New" pitchFamily="34" charset="0"/>
                <a:ea typeface="Courier New" pitchFamily="34" charset="-122"/>
                <a:cs typeface="Courier New" pitchFamily="34" charset="-120"/>
              </a:rPr>
              <a:t>HVIS AKKURAT DETTE SVIKTER</a:t>
            </a:r>
            <a:endParaRPr lang="en-US" sz="850" dirty="0"/>
          </a:p>
        </p:txBody>
      </p:sp>
      <p:sp>
        <p:nvSpPr>
          <p:cNvPr id="8" name="Text 6"/>
          <p:cNvSpPr/>
          <p:nvPr/>
        </p:nvSpPr>
        <p:spPr>
          <a:xfrm>
            <a:off x="685800" y="2944368"/>
            <a:ext cx="365760" cy="457200"/>
          </a:xfrm>
          <a:prstGeom prst="rect">
            <a:avLst/>
          </a:prstGeom>
          <a:noFill/>
          <a:ln/>
        </p:spPr>
        <p:txBody>
          <a:bodyPr wrap="square" lIns="0" tIns="0" rIns="0" bIns="0" rtlCol="0" anchor="ctr"/>
          <a:lstStyle/>
          <a:p>
            <a:pPr indent="0" marL="0">
              <a:buNone/>
            </a:pPr>
            <a:r>
              <a:rPr lang="en-US" sz="1100" dirty="0">
                <a:solidFill>
                  <a:srgbClr val="7FB7A3"/>
                </a:solidFill>
                <a:latin typeface="Courier New" pitchFamily="34" charset="0"/>
                <a:ea typeface="Courier New" pitchFamily="34" charset="-122"/>
                <a:cs typeface="Courier New" pitchFamily="34" charset="-120"/>
              </a:rPr>
              <a:t>1</a:t>
            </a:r>
            <a:endParaRPr lang="en-US" sz="1100" dirty="0"/>
          </a:p>
        </p:txBody>
      </p:sp>
      <p:sp>
        <p:nvSpPr>
          <p:cNvPr id="9" name="Text 7"/>
          <p:cNvSpPr/>
          <p:nvPr/>
        </p:nvSpPr>
        <p:spPr>
          <a:xfrm>
            <a:off x="1097280" y="2944368"/>
            <a:ext cx="4480560" cy="457200"/>
          </a:xfrm>
          <a:prstGeom prst="rect">
            <a:avLst/>
          </a:prstGeom>
          <a:noFill/>
          <a:ln/>
        </p:spPr>
        <p:txBody>
          <a:bodyPr wrap="square" lIns="0" tIns="0" rIns="0" bIns="0" rtlCol="0" anchor="ctr"/>
          <a:lstStyle/>
          <a:p>
            <a:pPr indent="0" marL="0">
              <a:lnSpc>
                <a:spcPts val="1400"/>
              </a:lnSpc>
              <a:buNone/>
            </a:pPr>
            <a:r>
              <a:rPr lang="en-US" sz="1100" b="1" dirty="0">
                <a:solidFill>
                  <a:srgbClr val="EDF2F0"/>
                </a:solidFill>
                <a:latin typeface="Calibri" pitchFamily="34" charset="0"/>
                <a:ea typeface="Calibri" pitchFamily="34" charset="-122"/>
                <a:cs typeface="Calibri" pitchFamily="34" charset="-120"/>
              </a:rPr>
              <a:t>Verifisert dødsfall</a:t>
            </a:r>
            <a:pPr indent="0" marL="0">
              <a:lnSpc>
                <a:spcPts val="1400"/>
              </a:lnSpc>
              <a:buNone/>
            </a:pPr>
            <a:r>
              <a:rPr lang="en-US" sz="1100" dirty="0">
                <a:solidFill>
                  <a:srgbClr val="9FB3AD"/>
                </a:solidFill>
                <a:latin typeface="Calibri" pitchFamily="34" charset="0"/>
                <a:ea typeface="Calibri" pitchFamily="34" charset="-122"/>
                <a:cs typeface="Calibri" pitchFamily="34" charset="-120"/>
              </a:rPr>
              <a:t> — attest eller offisiell kilde, aldri bare at eieren sluttet å svare</a:t>
            </a:r>
            <a:endParaRPr lang="en-US" sz="1100" dirty="0"/>
          </a:p>
        </p:txBody>
      </p:sp>
      <p:sp>
        <p:nvSpPr>
          <p:cNvPr id="10" name="Text 8"/>
          <p:cNvSpPr/>
          <p:nvPr/>
        </p:nvSpPr>
        <p:spPr>
          <a:xfrm>
            <a:off x="5806440" y="2944368"/>
            <a:ext cx="5669280" cy="457200"/>
          </a:xfrm>
          <a:prstGeom prst="rect">
            <a:avLst/>
          </a:prstGeom>
          <a:noFill/>
          <a:ln/>
        </p:spPr>
        <p:txBody>
          <a:bodyPr wrap="square" lIns="0" tIns="0" rIns="0" bIns="0" rtlCol="0" anchor="ctr"/>
          <a:lstStyle/>
          <a:p>
            <a:pPr indent="0" marL="0">
              <a:lnSpc>
                <a:spcPts val="1400"/>
              </a:lnSpc>
              <a:buNone/>
            </a:pPr>
            <a:r>
              <a:rPr lang="en-US" sz="1100" i="1" dirty="0">
                <a:solidFill>
                  <a:srgbClr val="D9777B"/>
                </a:solidFill>
                <a:latin typeface="Calibri" pitchFamily="34" charset="0"/>
                <a:ea typeface="Calibri" pitchFamily="34" charset="-122"/>
                <a:cs typeface="Calibri" pitchFamily="34" charset="-120"/>
              </a:rPr>
              <a:t>Arkivet åpnes fordi noen var på ferie</a:t>
            </a:r>
            <a:endParaRPr lang="en-US" sz="1100" dirty="0"/>
          </a:p>
        </p:txBody>
      </p:sp>
      <p:sp>
        <p:nvSpPr>
          <p:cNvPr id="11" name="Text 9"/>
          <p:cNvSpPr/>
          <p:nvPr/>
        </p:nvSpPr>
        <p:spPr>
          <a:xfrm>
            <a:off x="685800" y="3456432"/>
            <a:ext cx="365760" cy="457200"/>
          </a:xfrm>
          <a:prstGeom prst="rect">
            <a:avLst/>
          </a:prstGeom>
          <a:noFill/>
          <a:ln/>
        </p:spPr>
        <p:txBody>
          <a:bodyPr wrap="square" lIns="0" tIns="0" rIns="0" bIns="0" rtlCol="0" anchor="ctr"/>
          <a:lstStyle/>
          <a:p>
            <a:pPr indent="0" marL="0">
              <a:buNone/>
            </a:pPr>
            <a:r>
              <a:rPr lang="en-US" sz="1100" dirty="0">
                <a:solidFill>
                  <a:srgbClr val="7FB7A3"/>
                </a:solidFill>
                <a:latin typeface="Courier New" pitchFamily="34" charset="0"/>
                <a:ea typeface="Courier New" pitchFamily="34" charset="-122"/>
                <a:cs typeface="Courier New" pitchFamily="34" charset="-120"/>
              </a:rPr>
              <a:t>2</a:t>
            </a:r>
            <a:endParaRPr lang="en-US" sz="1100" dirty="0"/>
          </a:p>
        </p:txBody>
      </p:sp>
      <p:sp>
        <p:nvSpPr>
          <p:cNvPr id="12" name="Text 10"/>
          <p:cNvSpPr/>
          <p:nvPr/>
        </p:nvSpPr>
        <p:spPr>
          <a:xfrm>
            <a:off x="1097280" y="3456432"/>
            <a:ext cx="4480560" cy="457200"/>
          </a:xfrm>
          <a:prstGeom prst="rect">
            <a:avLst/>
          </a:prstGeom>
          <a:noFill/>
          <a:ln/>
        </p:spPr>
        <p:txBody>
          <a:bodyPr wrap="square" lIns="0" tIns="0" rIns="0" bIns="0" rtlCol="0" anchor="ctr"/>
          <a:lstStyle/>
          <a:p>
            <a:pPr indent="0" marL="0">
              <a:lnSpc>
                <a:spcPts val="1400"/>
              </a:lnSpc>
              <a:buNone/>
            </a:pPr>
            <a:r>
              <a:rPr lang="en-US" sz="1100" b="1" dirty="0">
                <a:solidFill>
                  <a:srgbClr val="EDF2F0"/>
                </a:solidFill>
                <a:latin typeface="Calibri" pitchFamily="34" charset="0"/>
                <a:ea typeface="Calibri" pitchFamily="34" charset="-122"/>
                <a:cs typeface="Calibri" pitchFamily="34" charset="-120"/>
              </a:rPr>
              <a:t>Fire øyne</a:t>
            </a:r>
            <a:pPr indent="0" marL="0">
              <a:lnSpc>
                <a:spcPts val="1400"/>
              </a:lnSpc>
              <a:buNone/>
            </a:pPr>
            <a:r>
              <a:rPr lang="en-US" sz="1100" dirty="0">
                <a:solidFill>
                  <a:srgbClr val="9FB3AD"/>
                </a:solidFill>
                <a:latin typeface="Calibri" pitchFamily="34" charset="0"/>
                <a:ea typeface="Calibri" pitchFamily="34" charset="-122"/>
                <a:cs typeface="Calibri" pitchFamily="34" charset="-120"/>
              </a:rPr>
              <a:t> — to ulike saksbehandlere, håndhevet i databasen</a:t>
            </a:r>
            <a:endParaRPr lang="en-US" sz="1100" dirty="0"/>
          </a:p>
        </p:txBody>
      </p:sp>
      <p:sp>
        <p:nvSpPr>
          <p:cNvPr id="13" name="Text 11"/>
          <p:cNvSpPr/>
          <p:nvPr/>
        </p:nvSpPr>
        <p:spPr>
          <a:xfrm>
            <a:off x="5806440" y="3456432"/>
            <a:ext cx="5669280" cy="457200"/>
          </a:xfrm>
          <a:prstGeom prst="rect">
            <a:avLst/>
          </a:prstGeom>
          <a:noFill/>
          <a:ln/>
        </p:spPr>
        <p:txBody>
          <a:bodyPr wrap="square" lIns="0" tIns="0" rIns="0" bIns="0" rtlCol="0" anchor="ctr"/>
          <a:lstStyle/>
          <a:p>
            <a:pPr indent="0" marL="0">
              <a:lnSpc>
                <a:spcPts val="1400"/>
              </a:lnSpc>
              <a:buNone/>
            </a:pPr>
            <a:r>
              <a:rPr lang="en-US" sz="1100" i="1" dirty="0">
                <a:solidFill>
                  <a:srgbClr val="D9777B"/>
                </a:solidFill>
                <a:latin typeface="Calibri" pitchFamily="34" charset="0"/>
                <a:ea typeface="Calibri" pitchFamily="34" charset="-122"/>
                <a:cs typeface="Calibri" pitchFamily="34" charset="-120"/>
              </a:rPr>
              <a:t>Én innsider, eller ett kapret passord, åpner alt</a:t>
            </a:r>
            <a:endParaRPr lang="en-US" sz="1100" dirty="0"/>
          </a:p>
        </p:txBody>
      </p:sp>
      <p:sp>
        <p:nvSpPr>
          <p:cNvPr id="14" name="Text 12"/>
          <p:cNvSpPr/>
          <p:nvPr/>
        </p:nvSpPr>
        <p:spPr>
          <a:xfrm>
            <a:off x="685800" y="3968496"/>
            <a:ext cx="365760" cy="457200"/>
          </a:xfrm>
          <a:prstGeom prst="rect">
            <a:avLst/>
          </a:prstGeom>
          <a:noFill/>
          <a:ln/>
        </p:spPr>
        <p:txBody>
          <a:bodyPr wrap="square" lIns="0" tIns="0" rIns="0" bIns="0" rtlCol="0" anchor="ctr"/>
          <a:lstStyle/>
          <a:p>
            <a:pPr indent="0" marL="0">
              <a:buNone/>
            </a:pPr>
            <a:r>
              <a:rPr lang="en-US" sz="1100" dirty="0">
                <a:solidFill>
                  <a:srgbClr val="7FB7A3"/>
                </a:solidFill>
                <a:latin typeface="Courier New" pitchFamily="34" charset="0"/>
                <a:ea typeface="Courier New" pitchFamily="34" charset="-122"/>
                <a:cs typeface="Courier New" pitchFamily="34" charset="-120"/>
              </a:rPr>
              <a:t>3</a:t>
            </a:r>
            <a:endParaRPr lang="en-US" sz="1100" dirty="0"/>
          </a:p>
        </p:txBody>
      </p:sp>
      <p:sp>
        <p:nvSpPr>
          <p:cNvPr id="15" name="Text 13"/>
          <p:cNvSpPr/>
          <p:nvPr/>
        </p:nvSpPr>
        <p:spPr>
          <a:xfrm>
            <a:off x="1097280" y="3968496"/>
            <a:ext cx="4480560" cy="457200"/>
          </a:xfrm>
          <a:prstGeom prst="rect">
            <a:avLst/>
          </a:prstGeom>
          <a:noFill/>
          <a:ln/>
        </p:spPr>
        <p:txBody>
          <a:bodyPr wrap="square" lIns="0" tIns="0" rIns="0" bIns="0" rtlCol="0" anchor="ctr"/>
          <a:lstStyle/>
          <a:p>
            <a:pPr indent="0" marL="0">
              <a:lnSpc>
                <a:spcPts val="1400"/>
              </a:lnSpc>
              <a:buNone/>
            </a:pPr>
            <a:r>
              <a:rPr lang="en-US" sz="1100" b="1" dirty="0">
                <a:solidFill>
                  <a:srgbClr val="EDF2F0"/>
                </a:solidFill>
                <a:latin typeface="Calibri" pitchFamily="34" charset="0"/>
                <a:ea typeface="Calibri" pitchFamily="34" charset="-122"/>
                <a:cs typeface="Calibri" pitchFamily="34" charset="-120"/>
              </a:rPr>
              <a:t>Karenstid, 48 t</a:t>
            </a:r>
            <a:pPr indent="0" marL="0">
              <a:lnSpc>
                <a:spcPts val="1400"/>
              </a:lnSpc>
              <a:buNone/>
            </a:pPr>
            <a:r>
              <a:rPr lang="en-US" sz="1100" dirty="0">
                <a:solidFill>
                  <a:srgbClr val="9FB3AD"/>
                </a:solidFill>
                <a:latin typeface="Calibri" pitchFamily="34" charset="0"/>
                <a:ea typeface="Calibri" pitchFamily="34" charset="-122"/>
                <a:cs typeface="Calibri" pitchFamily="34" charset="-120"/>
              </a:rPr>
              <a:t> — eieren varsles og har nødbremsen selv</a:t>
            </a:r>
            <a:endParaRPr lang="en-US" sz="1100" dirty="0"/>
          </a:p>
        </p:txBody>
      </p:sp>
      <p:sp>
        <p:nvSpPr>
          <p:cNvPr id="16" name="Text 14"/>
          <p:cNvSpPr/>
          <p:nvPr/>
        </p:nvSpPr>
        <p:spPr>
          <a:xfrm>
            <a:off x="5806440" y="3968496"/>
            <a:ext cx="5669280" cy="457200"/>
          </a:xfrm>
          <a:prstGeom prst="rect">
            <a:avLst/>
          </a:prstGeom>
          <a:noFill/>
          <a:ln/>
        </p:spPr>
        <p:txBody>
          <a:bodyPr wrap="square" lIns="0" tIns="0" rIns="0" bIns="0" rtlCol="0" anchor="ctr"/>
          <a:lstStyle/>
          <a:p>
            <a:pPr indent="0" marL="0">
              <a:lnSpc>
                <a:spcPts val="1400"/>
              </a:lnSpc>
              <a:buNone/>
            </a:pPr>
            <a:r>
              <a:rPr lang="en-US" sz="1100" i="1" dirty="0">
                <a:solidFill>
                  <a:srgbClr val="D9777B"/>
                </a:solidFill>
                <a:latin typeface="Calibri" pitchFamily="34" charset="0"/>
                <a:ea typeface="Calibri" pitchFamily="34" charset="-122"/>
                <a:cs typeface="Calibri" pitchFamily="34" charset="-120"/>
              </a:rPr>
              <a:t>Ingen vei tilbake hvis attesten var feil</a:t>
            </a:r>
            <a:endParaRPr lang="en-US" sz="1100" dirty="0"/>
          </a:p>
        </p:txBody>
      </p:sp>
      <p:sp>
        <p:nvSpPr>
          <p:cNvPr id="17" name="Text 15"/>
          <p:cNvSpPr/>
          <p:nvPr/>
        </p:nvSpPr>
        <p:spPr>
          <a:xfrm>
            <a:off x="685800" y="4480560"/>
            <a:ext cx="365760" cy="457200"/>
          </a:xfrm>
          <a:prstGeom prst="rect">
            <a:avLst/>
          </a:prstGeom>
          <a:noFill/>
          <a:ln/>
        </p:spPr>
        <p:txBody>
          <a:bodyPr wrap="square" lIns="0" tIns="0" rIns="0" bIns="0" rtlCol="0" anchor="ctr"/>
          <a:lstStyle/>
          <a:p>
            <a:pPr indent="0" marL="0">
              <a:buNone/>
            </a:pPr>
            <a:r>
              <a:rPr lang="en-US" sz="1100" dirty="0">
                <a:solidFill>
                  <a:srgbClr val="7FB7A3"/>
                </a:solidFill>
                <a:latin typeface="Courier New" pitchFamily="34" charset="0"/>
                <a:ea typeface="Courier New" pitchFamily="34" charset="-122"/>
                <a:cs typeface="Courier New" pitchFamily="34" charset="-120"/>
              </a:rPr>
              <a:t>4</a:t>
            </a:r>
            <a:endParaRPr lang="en-US" sz="1100" dirty="0"/>
          </a:p>
        </p:txBody>
      </p:sp>
      <p:sp>
        <p:nvSpPr>
          <p:cNvPr id="18" name="Text 16"/>
          <p:cNvSpPr/>
          <p:nvPr/>
        </p:nvSpPr>
        <p:spPr>
          <a:xfrm>
            <a:off x="1097280" y="4480560"/>
            <a:ext cx="4480560" cy="457200"/>
          </a:xfrm>
          <a:prstGeom prst="rect">
            <a:avLst/>
          </a:prstGeom>
          <a:noFill/>
          <a:ln/>
        </p:spPr>
        <p:txBody>
          <a:bodyPr wrap="square" lIns="0" tIns="0" rIns="0" bIns="0" rtlCol="0" anchor="ctr"/>
          <a:lstStyle/>
          <a:p>
            <a:pPr indent="0" marL="0">
              <a:lnSpc>
                <a:spcPts val="1400"/>
              </a:lnSpc>
              <a:buNone/>
            </a:pPr>
            <a:r>
              <a:rPr lang="en-US" sz="1100" b="1" dirty="0">
                <a:solidFill>
                  <a:srgbClr val="EDF2F0"/>
                </a:solidFill>
                <a:latin typeface="Calibri" pitchFamily="34" charset="0"/>
                <a:ea typeface="Calibri" pitchFamily="34" charset="-122"/>
                <a:cs typeface="Calibri" pitchFamily="34" charset="-120"/>
              </a:rPr>
              <a:t>Mottakermatrise</a:t>
            </a:r>
            <a:pPr indent="0" marL="0">
              <a:lnSpc>
                <a:spcPts val="1400"/>
              </a:lnSpc>
              <a:buNone/>
            </a:pPr>
            <a:r>
              <a:rPr lang="en-US" sz="1100" dirty="0">
                <a:solidFill>
                  <a:srgbClr val="9FB3AD"/>
                </a:solidFill>
                <a:latin typeface="Calibri" pitchFamily="34" charset="0"/>
                <a:ea typeface="Calibri" pitchFamily="34" charset="-122"/>
                <a:cs typeface="Calibri" pitchFamily="34" charset="-120"/>
              </a:rPr>
              <a:t> — hver mottaker får kun det eieren pekte ut til hen</a:t>
            </a:r>
            <a:endParaRPr lang="en-US" sz="1100" dirty="0"/>
          </a:p>
        </p:txBody>
      </p:sp>
      <p:sp>
        <p:nvSpPr>
          <p:cNvPr id="19" name="Text 17"/>
          <p:cNvSpPr/>
          <p:nvPr/>
        </p:nvSpPr>
        <p:spPr>
          <a:xfrm>
            <a:off x="5806440" y="4480560"/>
            <a:ext cx="5669280" cy="457200"/>
          </a:xfrm>
          <a:prstGeom prst="rect">
            <a:avLst/>
          </a:prstGeom>
          <a:noFill/>
          <a:ln/>
        </p:spPr>
        <p:txBody>
          <a:bodyPr wrap="square" lIns="0" tIns="0" rIns="0" bIns="0" rtlCol="0" anchor="ctr"/>
          <a:lstStyle/>
          <a:p>
            <a:pPr indent="0" marL="0">
              <a:lnSpc>
                <a:spcPts val="1400"/>
              </a:lnSpc>
              <a:buNone/>
            </a:pPr>
            <a:r>
              <a:rPr lang="en-US" sz="1100" i="1" dirty="0">
                <a:solidFill>
                  <a:srgbClr val="D9777B"/>
                </a:solidFill>
                <a:latin typeface="Calibri" pitchFamily="34" charset="0"/>
                <a:ea typeface="Calibri" pitchFamily="34" charset="-122"/>
                <a:cs typeface="Calibri" pitchFamily="34" charset="-120"/>
              </a:rPr>
              <a:t>Datteren ser brevet som var til broren</a:t>
            </a:r>
            <a:endParaRPr lang="en-US" sz="1100" dirty="0"/>
          </a:p>
        </p:txBody>
      </p:sp>
      <p:sp>
        <p:nvSpPr>
          <p:cNvPr id="20" name="Text 18"/>
          <p:cNvSpPr/>
          <p:nvPr/>
        </p:nvSpPr>
        <p:spPr>
          <a:xfrm>
            <a:off x="685800" y="4992624"/>
            <a:ext cx="365760" cy="457200"/>
          </a:xfrm>
          <a:prstGeom prst="rect">
            <a:avLst/>
          </a:prstGeom>
          <a:noFill/>
          <a:ln/>
        </p:spPr>
        <p:txBody>
          <a:bodyPr wrap="square" lIns="0" tIns="0" rIns="0" bIns="0" rtlCol="0" anchor="ctr"/>
          <a:lstStyle/>
          <a:p>
            <a:pPr indent="0" marL="0">
              <a:buNone/>
            </a:pPr>
            <a:r>
              <a:rPr lang="en-US" sz="1100" dirty="0">
                <a:solidFill>
                  <a:srgbClr val="7FB7A3"/>
                </a:solidFill>
                <a:latin typeface="Courier New" pitchFamily="34" charset="0"/>
                <a:ea typeface="Courier New" pitchFamily="34" charset="-122"/>
                <a:cs typeface="Courier New" pitchFamily="34" charset="-120"/>
              </a:rPr>
              <a:t>5</a:t>
            </a:r>
            <a:endParaRPr lang="en-US" sz="1100" dirty="0"/>
          </a:p>
        </p:txBody>
      </p:sp>
      <p:sp>
        <p:nvSpPr>
          <p:cNvPr id="21" name="Text 19"/>
          <p:cNvSpPr/>
          <p:nvPr/>
        </p:nvSpPr>
        <p:spPr>
          <a:xfrm>
            <a:off x="1097280" y="4992624"/>
            <a:ext cx="4480560" cy="457200"/>
          </a:xfrm>
          <a:prstGeom prst="rect">
            <a:avLst/>
          </a:prstGeom>
          <a:noFill/>
          <a:ln/>
        </p:spPr>
        <p:txBody>
          <a:bodyPr wrap="square" lIns="0" tIns="0" rIns="0" bIns="0" rtlCol="0" anchor="ctr"/>
          <a:lstStyle/>
          <a:p>
            <a:pPr indent="0" marL="0">
              <a:lnSpc>
                <a:spcPts val="1400"/>
              </a:lnSpc>
              <a:buNone/>
            </a:pPr>
            <a:r>
              <a:rPr lang="en-US" sz="1100" b="1" dirty="0">
                <a:solidFill>
                  <a:srgbClr val="EDF2F0"/>
                </a:solidFill>
                <a:latin typeface="Calibri" pitchFamily="34" charset="0"/>
                <a:ea typeface="Calibri" pitchFamily="34" charset="-122"/>
                <a:cs typeface="Calibri" pitchFamily="34" charset="-120"/>
              </a:rPr>
              <a:t>Zero-knowledge</a:t>
            </a:r>
            <a:pPr indent="0" marL="0">
              <a:lnSpc>
                <a:spcPts val="1400"/>
              </a:lnSpc>
              <a:buNone/>
            </a:pPr>
            <a:r>
              <a:rPr lang="en-US" sz="1100" dirty="0">
                <a:solidFill>
                  <a:srgbClr val="9FB3AD"/>
                </a:solidFill>
                <a:latin typeface="Calibri" pitchFamily="34" charset="0"/>
                <a:ea typeface="Calibri" pitchFamily="34" charset="-122"/>
                <a:cs typeface="Calibri" pitchFamily="34" charset="-120"/>
              </a:rPr>
              <a:t> — det sensitive krypteres i nettleseren; serveren avviser klartekst</a:t>
            </a:r>
            <a:endParaRPr lang="en-US" sz="1100" dirty="0"/>
          </a:p>
        </p:txBody>
      </p:sp>
      <p:sp>
        <p:nvSpPr>
          <p:cNvPr id="22" name="Text 20"/>
          <p:cNvSpPr/>
          <p:nvPr/>
        </p:nvSpPr>
        <p:spPr>
          <a:xfrm>
            <a:off x="5806440" y="4992624"/>
            <a:ext cx="5669280" cy="457200"/>
          </a:xfrm>
          <a:prstGeom prst="rect">
            <a:avLst/>
          </a:prstGeom>
          <a:noFill/>
          <a:ln/>
        </p:spPr>
        <p:txBody>
          <a:bodyPr wrap="square" lIns="0" tIns="0" rIns="0" bIns="0" rtlCol="0" anchor="ctr"/>
          <a:lstStyle/>
          <a:p>
            <a:pPr indent="0" marL="0">
              <a:lnSpc>
                <a:spcPts val="1400"/>
              </a:lnSpc>
              <a:buNone/>
            </a:pPr>
            <a:r>
              <a:rPr lang="en-US" sz="1100" i="1" dirty="0">
                <a:solidFill>
                  <a:srgbClr val="D9777B"/>
                </a:solidFill>
                <a:latin typeface="Calibri" pitchFamily="34" charset="0"/>
                <a:ea typeface="Calibri" pitchFamily="34" charset="-122"/>
                <a:cs typeface="Calibri" pitchFamily="34" charset="-120"/>
              </a:rPr>
              <a:t>Databasetyveri er også innholdstyveri</a:t>
            </a:r>
            <a:endParaRPr lang="en-US" sz="1100" dirty="0"/>
          </a:p>
        </p:txBody>
      </p:sp>
      <p:sp>
        <p:nvSpPr>
          <p:cNvPr id="23" name="Text 21"/>
          <p:cNvSpPr/>
          <p:nvPr/>
        </p:nvSpPr>
        <p:spPr>
          <a:xfrm>
            <a:off x="685800" y="5504688"/>
            <a:ext cx="365760" cy="457200"/>
          </a:xfrm>
          <a:prstGeom prst="rect">
            <a:avLst/>
          </a:prstGeom>
          <a:noFill/>
          <a:ln/>
        </p:spPr>
        <p:txBody>
          <a:bodyPr wrap="square" lIns="0" tIns="0" rIns="0" bIns="0" rtlCol="0" anchor="ctr"/>
          <a:lstStyle/>
          <a:p>
            <a:pPr indent="0" marL="0">
              <a:buNone/>
            </a:pPr>
            <a:r>
              <a:rPr lang="en-US" sz="1100" dirty="0">
                <a:solidFill>
                  <a:srgbClr val="7FB7A3"/>
                </a:solidFill>
                <a:latin typeface="Courier New" pitchFamily="34" charset="0"/>
                <a:ea typeface="Courier New" pitchFamily="34" charset="-122"/>
                <a:cs typeface="Courier New" pitchFamily="34" charset="-120"/>
              </a:rPr>
              <a:t>6</a:t>
            </a:r>
            <a:endParaRPr lang="en-US" sz="1100" dirty="0"/>
          </a:p>
        </p:txBody>
      </p:sp>
      <p:sp>
        <p:nvSpPr>
          <p:cNvPr id="24" name="Text 22"/>
          <p:cNvSpPr/>
          <p:nvPr/>
        </p:nvSpPr>
        <p:spPr>
          <a:xfrm>
            <a:off x="1097280" y="5504688"/>
            <a:ext cx="4480560" cy="457200"/>
          </a:xfrm>
          <a:prstGeom prst="rect">
            <a:avLst/>
          </a:prstGeom>
          <a:noFill/>
          <a:ln/>
        </p:spPr>
        <p:txBody>
          <a:bodyPr wrap="square" lIns="0" tIns="0" rIns="0" bIns="0" rtlCol="0" anchor="ctr"/>
          <a:lstStyle/>
          <a:p>
            <a:pPr indent="0" marL="0">
              <a:lnSpc>
                <a:spcPts val="1400"/>
              </a:lnSpc>
              <a:buNone/>
            </a:pPr>
            <a:r>
              <a:rPr lang="en-US" sz="1100" b="1" dirty="0">
                <a:solidFill>
                  <a:srgbClr val="EDF2F0"/>
                </a:solidFill>
                <a:latin typeface="Calibri" pitchFamily="34" charset="0"/>
                <a:ea typeface="Calibri" pitchFamily="34" charset="-122"/>
                <a:cs typeface="Calibri" pitchFamily="34" charset="-120"/>
              </a:rPr>
              <a:t>Append-only revisjonslogg</a:t>
            </a:r>
            <a:pPr indent="0" marL="0">
              <a:lnSpc>
                <a:spcPts val="1400"/>
              </a:lnSpc>
              <a:buNone/>
            </a:pPr>
            <a:r>
              <a:rPr lang="en-US" sz="1100" dirty="0">
                <a:solidFill>
                  <a:srgbClr val="9FB3AD"/>
                </a:solidFill>
                <a:latin typeface="Calibri" pitchFamily="34" charset="0"/>
                <a:ea typeface="Calibri" pitchFamily="34" charset="-122"/>
                <a:cs typeface="Calibri" pitchFamily="34" charset="-120"/>
              </a:rPr>
              <a:t> — ingen har rett til å endre eller slette</a:t>
            </a:r>
            <a:endParaRPr lang="en-US" sz="1100" dirty="0"/>
          </a:p>
        </p:txBody>
      </p:sp>
      <p:sp>
        <p:nvSpPr>
          <p:cNvPr id="25" name="Text 23"/>
          <p:cNvSpPr/>
          <p:nvPr/>
        </p:nvSpPr>
        <p:spPr>
          <a:xfrm>
            <a:off x="5806440" y="5504688"/>
            <a:ext cx="5669280" cy="457200"/>
          </a:xfrm>
          <a:prstGeom prst="rect">
            <a:avLst/>
          </a:prstGeom>
          <a:noFill/>
          <a:ln/>
        </p:spPr>
        <p:txBody>
          <a:bodyPr wrap="square" lIns="0" tIns="0" rIns="0" bIns="0" rtlCol="0" anchor="ctr"/>
          <a:lstStyle/>
          <a:p>
            <a:pPr indent="0" marL="0">
              <a:lnSpc>
                <a:spcPts val="1400"/>
              </a:lnSpc>
              <a:buNone/>
            </a:pPr>
            <a:r>
              <a:rPr lang="en-US" sz="1100" i="1" dirty="0">
                <a:solidFill>
                  <a:srgbClr val="D9777B"/>
                </a:solidFill>
                <a:latin typeface="Calibri" pitchFamily="34" charset="0"/>
                <a:ea typeface="Calibri" pitchFamily="34" charset="-122"/>
                <a:cs typeface="Calibri" pitchFamily="34" charset="-120"/>
              </a:rPr>
              <a:t>Ingen kan i ettertid bevise at frigivelsen var korrekt</a:t>
            </a:r>
            <a:endParaRPr lang="en-US" sz="1100" dirty="0"/>
          </a:p>
        </p:txBody>
      </p:sp>
      <p:sp>
        <p:nvSpPr>
          <p:cNvPr id="26" name="Text 24"/>
          <p:cNvSpPr/>
          <p:nvPr/>
        </p:nvSpPr>
        <p:spPr>
          <a:xfrm>
            <a:off x="685800" y="6108192"/>
            <a:ext cx="9966960" cy="548640"/>
          </a:xfrm>
          <a:prstGeom prst="rect">
            <a:avLst/>
          </a:prstGeom>
          <a:noFill/>
          <a:ln/>
        </p:spPr>
        <p:txBody>
          <a:bodyPr wrap="square" lIns="0" tIns="0" rIns="0" bIns="0" rtlCol="0" anchor="t"/>
          <a:lstStyle/>
          <a:p>
            <a:pPr algn="l" indent="0" marL="0">
              <a:lnSpc>
                <a:spcPts val="1633"/>
              </a:lnSpc>
              <a:buNone/>
            </a:pPr>
            <a:r>
              <a:rPr lang="en-US" sz="1150" dirty="0">
                <a:solidFill>
                  <a:srgbClr val="EDF2F0"/>
                </a:solidFill>
                <a:latin typeface="Calibri" pitchFamily="34" charset="0"/>
                <a:ea typeface="Calibri" pitchFamily="34" charset="-122"/>
                <a:cs typeface="Calibri" pitchFamily="34" charset="-120"/>
              </a:rPr>
              <a:t>Bytt om på to av dem, og systemet er ødelagt uten å se ødelagt ut. Det som ikke kan kopieres i det hele tatt, er svaret på spørsmålet kunden faktisk stiller: «finnes dere den dagen dette trengs?»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AVGRENSNING</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10</a:t>
            </a:r>
            <a:endParaRPr lang="en-US" sz="900" dirty="0"/>
          </a:p>
        </p:txBody>
      </p:sp>
      <p:sp>
        <p:nvSpPr>
          <p:cNvPr id="4" name="Text 2"/>
          <p:cNvSpPr/>
          <p:nvPr/>
        </p:nvSpPr>
        <p:spPr>
          <a:xfrm>
            <a:off x="685800" y="868680"/>
            <a:ext cx="10058400" cy="868680"/>
          </a:xfrm>
          <a:prstGeom prst="rect">
            <a:avLst/>
          </a:prstGeom>
          <a:noFill/>
          <a:ln/>
        </p:spPr>
        <p:txBody>
          <a:bodyPr wrap="square" lIns="0" tIns="0" rIns="0" bIns="0" rtlCol="0" anchor="t"/>
          <a:lstStyle/>
          <a:p>
            <a:pPr indent="0" marL="0">
              <a:lnSpc>
                <a:spcPts val="3540"/>
              </a:lnSpc>
              <a:buNone/>
            </a:pPr>
            <a:r>
              <a:rPr lang="en-US" sz="3000" b="1" dirty="0">
                <a:solidFill>
                  <a:srgbClr val="EDF2F0"/>
                </a:solidFill>
                <a:latin typeface="Georgia" pitchFamily="34" charset="0"/>
                <a:ea typeface="Georgia" pitchFamily="34" charset="-122"/>
                <a:cs typeface="Georgia" pitchFamily="34" charset="-120"/>
              </a:rPr>
              <a:t>Vi konkurrerer ikke med staten</a:t>
            </a:r>
            <a:endParaRPr lang="en-US" sz="3000" dirty="0"/>
          </a:p>
        </p:txBody>
      </p:sp>
      <p:sp>
        <p:nvSpPr>
          <p:cNvPr id="5" name="Text 3"/>
          <p:cNvSpPr/>
          <p:nvPr/>
        </p:nvSpPr>
        <p:spPr>
          <a:xfrm>
            <a:off x="685800" y="1783080"/>
            <a:ext cx="10424160" cy="640080"/>
          </a:xfrm>
          <a:prstGeom prst="rect">
            <a:avLst/>
          </a:prstGeom>
          <a:noFill/>
          <a:ln/>
        </p:spPr>
        <p:txBody>
          <a:bodyPr wrap="square" lIns="0" tIns="0" rIns="0" bIns="0" rtlCol="0" anchor="t"/>
          <a:lstStyle/>
          <a:p>
            <a:pPr algn="l" indent="0" marL="0">
              <a:lnSpc>
                <a:spcPts val="2556"/>
              </a:lnSpc>
              <a:buNone/>
            </a:pPr>
            <a:r>
              <a:rPr lang="en-US" sz="1800" i="1" dirty="0">
                <a:solidFill>
                  <a:srgbClr val="EDF2F0"/>
                </a:solidFill>
                <a:latin typeface="Georgia" pitchFamily="34" charset="0"/>
                <a:ea typeface="Georgia" pitchFamily="34" charset="-122"/>
                <a:cs typeface="Georgia" pitchFamily="34" charset="-120"/>
              </a:rPr>
              <a:t>«Staten vet hva som finnes. Staten vet ikke hvor nøkkelen ligger, hva avdøde ønsket, eller hvem som skal ha hva.»</a:t>
            </a:r>
            <a:endParaRPr lang="en-US" sz="1800" dirty="0"/>
          </a:p>
        </p:txBody>
      </p:sp>
      <p:sp>
        <p:nvSpPr>
          <p:cNvPr id="6" name="Shape 4"/>
          <p:cNvSpPr/>
          <p:nvPr/>
        </p:nvSpPr>
        <p:spPr>
          <a:xfrm>
            <a:off x="685800" y="2606040"/>
            <a:ext cx="5669280" cy="3200400"/>
          </a:xfrm>
          <a:prstGeom prst="roundRect">
            <a:avLst>
              <a:gd name="adj" fmla="val 2571"/>
            </a:avLst>
          </a:prstGeom>
          <a:solidFill>
            <a:srgbClr val="0E1B25"/>
          </a:solidFill>
          <a:ln w="12700">
            <a:solidFill>
              <a:srgbClr val="27405A"/>
            </a:solidFill>
            <a:prstDash val="solid"/>
          </a:ln>
        </p:spPr>
      </p:sp>
      <p:sp>
        <p:nvSpPr>
          <p:cNvPr id="7" name="Shape 5"/>
          <p:cNvSpPr/>
          <p:nvPr/>
        </p:nvSpPr>
        <p:spPr>
          <a:xfrm>
            <a:off x="6492240" y="2606040"/>
            <a:ext cx="5010912" cy="3200400"/>
          </a:xfrm>
          <a:prstGeom prst="roundRect">
            <a:avLst>
              <a:gd name="adj" fmla="val 2571"/>
            </a:avLst>
          </a:prstGeom>
          <a:solidFill>
            <a:srgbClr val="16283A"/>
          </a:solidFill>
          <a:ln w="12700">
            <a:solidFill>
              <a:srgbClr val="27405A"/>
            </a:solidFill>
            <a:prstDash val="solid"/>
          </a:ln>
        </p:spPr>
      </p:sp>
      <p:sp>
        <p:nvSpPr>
          <p:cNvPr id="8" name="Text 6"/>
          <p:cNvSpPr/>
          <p:nvPr/>
        </p:nvSpPr>
        <p:spPr>
          <a:xfrm>
            <a:off x="1005840" y="2834640"/>
            <a:ext cx="5029200" cy="237744"/>
          </a:xfrm>
          <a:prstGeom prst="rect">
            <a:avLst/>
          </a:prstGeom>
          <a:noFill/>
          <a:ln/>
        </p:spPr>
        <p:txBody>
          <a:bodyPr wrap="square" lIns="0" tIns="0" rIns="0" bIns="0" rtlCol="0" anchor="ctr"/>
          <a:lstStyle/>
          <a:p>
            <a:pPr indent="0" marL="0">
              <a:buNone/>
            </a:pPr>
            <a:r>
              <a:rPr lang="en-US" sz="900" spc="140" kern="0" dirty="0">
                <a:solidFill>
                  <a:srgbClr val="9FB3AD"/>
                </a:solidFill>
                <a:latin typeface="Courier New" pitchFamily="34" charset="0"/>
                <a:ea typeface="Courier New" pitchFamily="34" charset="-122"/>
                <a:cs typeface="Courier New" pitchFamily="34" charset="-120"/>
              </a:rPr>
              <a:t>STATEN LØSER  ·  DIGITALT DØDSBO</a:t>
            </a:r>
            <a:endParaRPr lang="en-US" sz="900" dirty="0"/>
          </a:p>
        </p:txBody>
      </p:sp>
      <p:sp>
        <p:nvSpPr>
          <p:cNvPr id="9" name="Text 7"/>
          <p:cNvSpPr/>
          <p:nvPr/>
        </p:nvSpPr>
        <p:spPr>
          <a:xfrm>
            <a:off x="6812280" y="2834640"/>
            <a:ext cx="4389120" cy="237744"/>
          </a:xfrm>
          <a:prstGeom prst="rect">
            <a:avLst/>
          </a:prstGeom>
          <a:noFill/>
          <a:ln/>
        </p:spPr>
        <p:txBody>
          <a:bodyPr wrap="square" lIns="0" tIns="0" rIns="0" bIns="0" rtlCol="0" anchor="ctr"/>
          <a:lstStyle/>
          <a:p>
            <a:pPr indent="0" marL="0">
              <a:buNone/>
            </a:pPr>
            <a:r>
              <a:rPr lang="en-US" sz="900" spc="140" kern="0" dirty="0">
                <a:solidFill>
                  <a:srgbClr val="7FB7A3"/>
                </a:solidFill>
                <a:latin typeface="Courier New" pitchFamily="34" charset="0"/>
                <a:ea typeface="Courier New" pitchFamily="34" charset="-122"/>
                <a:cs typeface="Courier New" pitchFamily="34" charset="-120"/>
              </a:rPr>
              <a:t>VI LØSER</a:t>
            </a:r>
            <a:endParaRPr lang="en-US" sz="900" dirty="0"/>
          </a:p>
        </p:txBody>
      </p:sp>
      <p:sp>
        <p:nvSpPr>
          <p:cNvPr id="10" name="Text 8"/>
          <p:cNvSpPr/>
          <p:nvPr/>
        </p:nvSpPr>
        <p:spPr>
          <a:xfrm>
            <a:off x="1005840" y="3200400"/>
            <a:ext cx="5029200" cy="502920"/>
          </a:xfrm>
          <a:prstGeom prst="rect">
            <a:avLst/>
          </a:prstGeom>
          <a:noFill/>
          <a:ln/>
        </p:spPr>
        <p:txBody>
          <a:bodyPr wrap="square" lIns="0" tIns="0" rIns="0" bIns="0" rtlCol="0" anchor="ctr"/>
          <a:lstStyle/>
          <a:p>
            <a:pPr indent="0" marL="0">
              <a:lnSpc>
                <a:spcPts val="1400"/>
              </a:lnSpc>
              <a:buNone/>
            </a:pPr>
            <a:r>
              <a:rPr lang="en-US" sz="1150" dirty="0">
                <a:solidFill>
                  <a:srgbClr val="9FB3AD"/>
                </a:solidFill>
                <a:latin typeface="Calibri" pitchFamily="34" charset="0"/>
                <a:ea typeface="Calibri" pitchFamily="34" charset="-122"/>
                <a:cs typeface="Calibri" pitchFamily="34" charset="-120"/>
              </a:rPr>
              <a:t>Hvilke kontoer, eiendommer, kjøretøy, gjeld og poliser fantes</a:t>
            </a:r>
            <a:endParaRPr lang="en-US" sz="1150" dirty="0"/>
          </a:p>
        </p:txBody>
      </p:sp>
      <p:sp>
        <p:nvSpPr>
          <p:cNvPr id="11" name="Text 9"/>
          <p:cNvSpPr/>
          <p:nvPr/>
        </p:nvSpPr>
        <p:spPr>
          <a:xfrm>
            <a:off x="6812280" y="3200400"/>
            <a:ext cx="4389120" cy="502920"/>
          </a:xfrm>
          <a:prstGeom prst="rect">
            <a:avLst/>
          </a:prstGeom>
          <a:noFill/>
          <a:ln/>
        </p:spPr>
        <p:txBody>
          <a:bodyPr wrap="square" lIns="0" tIns="0" rIns="0" bIns="0" rtlCol="0" anchor="ctr"/>
          <a:lstStyle/>
          <a:p>
            <a:pPr indent="0" marL="0">
              <a:lnSpc>
                <a:spcPts val="1400"/>
              </a:lnSpc>
              <a:buNone/>
            </a:pPr>
            <a:r>
              <a:rPr lang="en-US" sz="1150" dirty="0">
                <a:solidFill>
                  <a:srgbClr val="EDF2F0"/>
                </a:solidFill>
                <a:latin typeface="Calibri" pitchFamily="34" charset="0"/>
                <a:ea typeface="Calibri" pitchFamily="34" charset="-122"/>
                <a:cs typeface="Calibri" pitchFamily="34" charset="-120"/>
              </a:rPr>
              <a:t>Passord, koder, hvor originaldokumentene ligger</a:t>
            </a:r>
            <a:endParaRPr lang="en-US" sz="1150" dirty="0"/>
          </a:p>
        </p:txBody>
      </p:sp>
      <p:sp>
        <p:nvSpPr>
          <p:cNvPr id="12" name="Text 10"/>
          <p:cNvSpPr/>
          <p:nvPr/>
        </p:nvSpPr>
        <p:spPr>
          <a:xfrm>
            <a:off x="1005840" y="3712464"/>
            <a:ext cx="5029200" cy="502920"/>
          </a:xfrm>
          <a:prstGeom prst="rect">
            <a:avLst/>
          </a:prstGeom>
          <a:noFill/>
          <a:ln/>
        </p:spPr>
        <p:txBody>
          <a:bodyPr wrap="square" lIns="0" tIns="0" rIns="0" bIns="0" rtlCol="0" anchor="ctr"/>
          <a:lstStyle/>
          <a:p>
            <a:pPr indent="0" marL="0">
              <a:lnSpc>
                <a:spcPts val="1400"/>
              </a:lnSpc>
              <a:buNone/>
            </a:pPr>
            <a:r>
              <a:rPr lang="en-US" sz="1150" dirty="0">
                <a:solidFill>
                  <a:srgbClr val="9FB3AD"/>
                </a:solidFill>
                <a:latin typeface="Calibri" pitchFamily="34" charset="0"/>
                <a:ea typeface="Calibri" pitchFamily="34" charset="-122"/>
                <a:cs typeface="Calibri" pitchFamily="34" charset="-120"/>
              </a:rPr>
              <a:t>Data fra registre</a:t>
            </a:r>
            <a:endParaRPr lang="en-US" sz="1150" dirty="0"/>
          </a:p>
        </p:txBody>
      </p:sp>
      <p:sp>
        <p:nvSpPr>
          <p:cNvPr id="13" name="Text 11"/>
          <p:cNvSpPr/>
          <p:nvPr/>
        </p:nvSpPr>
        <p:spPr>
          <a:xfrm>
            <a:off x="6812280" y="3712464"/>
            <a:ext cx="4389120" cy="502920"/>
          </a:xfrm>
          <a:prstGeom prst="rect">
            <a:avLst/>
          </a:prstGeom>
          <a:noFill/>
          <a:ln/>
        </p:spPr>
        <p:txBody>
          <a:bodyPr wrap="square" lIns="0" tIns="0" rIns="0" bIns="0" rtlCol="0" anchor="ctr"/>
          <a:lstStyle/>
          <a:p>
            <a:pPr indent="0" marL="0">
              <a:lnSpc>
                <a:spcPts val="1400"/>
              </a:lnSpc>
              <a:buNone/>
            </a:pPr>
            <a:r>
              <a:rPr lang="en-US" sz="1150" dirty="0">
                <a:solidFill>
                  <a:srgbClr val="EDF2F0"/>
                </a:solidFill>
                <a:latin typeface="Calibri" pitchFamily="34" charset="0"/>
                <a:ea typeface="Calibri" pitchFamily="34" charset="-122"/>
                <a:cs typeface="Calibri" pitchFamily="34" charset="-120"/>
              </a:rPr>
              <a:t>Kunnskap som aldri sto i noe register</a:t>
            </a:r>
            <a:endParaRPr lang="en-US" sz="1150" dirty="0"/>
          </a:p>
        </p:txBody>
      </p:sp>
      <p:sp>
        <p:nvSpPr>
          <p:cNvPr id="14" name="Text 12"/>
          <p:cNvSpPr/>
          <p:nvPr/>
        </p:nvSpPr>
        <p:spPr>
          <a:xfrm>
            <a:off x="1005840" y="4224528"/>
            <a:ext cx="5029200" cy="502920"/>
          </a:xfrm>
          <a:prstGeom prst="rect">
            <a:avLst/>
          </a:prstGeom>
          <a:noFill/>
          <a:ln/>
        </p:spPr>
        <p:txBody>
          <a:bodyPr wrap="square" lIns="0" tIns="0" rIns="0" bIns="0" rtlCol="0" anchor="ctr"/>
          <a:lstStyle/>
          <a:p>
            <a:pPr indent="0" marL="0">
              <a:lnSpc>
                <a:spcPts val="1400"/>
              </a:lnSpc>
              <a:buNone/>
            </a:pPr>
            <a:r>
              <a:rPr lang="en-US" sz="1150" dirty="0">
                <a:solidFill>
                  <a:srgbClr val="9FB3AD"/>
                </a:solidFill>
                <a:latin typeface="Calibri" pitchFamily="34" charset="0"/>
                <a:ea typeface="Calibri" pitchFamily="34" charset="-122"/>
                <a:cs typeface="Calibri" pitchFamily="34" charset="-120"/>
              </a:rPr>
              <a:t>Tilgang etter at tingretten har åpnet skiftet</a:t>
            </a:r>
            <a:endParaRPr lang="en-US" sz="1150" dirty="0"/>
          </a:p>
        </p:txBody>
      </p:sp>
      <p:sp>
        <p:nvSpPr>
          <p:cNvPr id="15" name="Text 13"/>
          <p:cNvSpPr/>
          <p:nvPr/>
        </p:nvSpPr>
        <p:spPr>
          <a:xfrm>
            <a:off x="6812280" y="4224528"/>
            <a:ext cx="4389120" cy="502920"/>
          </a:xfrm>
          <a:prstGeom prst="rect">
            <a:avLst/>
          </a:prstGeom>
          <a:noFill/>
          <a:ln/>
        </p:spPr>
        <p:txBody>
          <a:bodyPr wrap="square" lIns="0" tIns="0" rIns="0" bIns="0" rtlCol="0" anchor="ctr"/>
          <a:lstStyle/>
          <a:p>
            <a:pPr indent="0" marL="0">
              <a:lnSpc>
                <a:spcPts val="1400"/>
              </a:lnSpc>
              <a:buNone/>
            </a:pPr>
            <a:r>
              <a:rPr lang="en-US" sz="1150" dirty="0">
                <a:solidFill>
                  <a:srgbClr val="EDF2F0"/>
                </a:solidFill>
                <a:latin typeface="Calibri" pitchFamily="34" charset="0"/>
                <a:ea typeface="Calibri" pitchFamily="34" charset="-122"/>
                <a:cs typeface="Calibri" pitchFamily="34" charset="-120"/>
              </a:rPr>
              <a:t>Det de nærmeste trenger de første 48 timene</a:t>
            </a:r>
            <a:endParaRPr lang="en-US" sz="1150" dirty="0"/>
          </a:p>
        </p:txBody>
      </p:sp>
      <p:sp>
        <p:nvSpPr>
          <p:cNvPr id="16" name="Text 14"/>
          <p:cNvSpPr/>
          <p:nvPr/>
        </p:nvSpPr>
        <p:spPr>
          <a:xfrm>
            <a:off x="1005840" y="4736592"/>
            <a:ext cx="5029200" cy="502920"/>
          </a:xfrm>
          <a:prstGeom prst="rect">
            <a:avLst/>
          </a:prstGeom>
          <a:noFill/>
          <a:ln/>
        </p:spPr>
        <p:txBody>
          <a:bodyPr wrap="square" lIns="0" tIns="0" rIns="0" bIns="0" rtlCol="0" anchor="ctr"/>
          <a:lstStyle/>
          <a:p>
            <a:pPr indent="0" marL="0">
              <a:lnSpc>
                <a:spcPts val="1400"/>
              </a:lnSpc>
              <a:buNone/>
            </a:pPr>
            <a:r>
              <a:rPr lang="en-US" sz="1150" dirty="0">
                <a:solidFill>
                  <a:srgbClr val="9FB3AD"/>
                </a:solidFill>
                <a:latin typeface="Calibri" pitchFamily="34" charset="0"/>
                <a:ea typeface="Calibri" pitchFamily="34" charset="-122"/>
                <a:cs typeface="Calibri" pitchFamily="34" charset="-120"/>
              </a:rPr>
              <a:t>Formuen</a:t>
            </a:r>
            <a:endParaRPr lang="en-US" sz="1150" dirty="0"/>
          </a:p>
        </p:txBody>
      </p:sp>
      <p:sp>
        <p:nvSpPr>
          <p:cNvPr id="17" name="Text 15"/>
          <p:cNvSpPr/>
          <p:nvPr/>
        </p:nvSpPr>
        <p:spPr>
          <a:xfrm>
            <a:off x="6812280" y="4736592"/>
            <a:ext cx="4389120" cy="502920"/>
          </a:xfrm>
          <a:prstGeom prst="rect">
            <a:avLst/>
          </a:prstGeom>
          <a:noFill/>
          <a:ln/>
        </p:spPr>
        <p:txBody>
          <a:bodyPr wrap="square" lIns="0" tIns="0" rIns="0" bIns="0" rtlCol="0" anchor="ctr"/>
          <a:lstStyle/>
          <a:p>
            <a:pPr indent="0" marL="0">
              <a:lnSpc>
                <a:spcPts val="1400"/>
              </a:lnSpc>
              <a:buNone/>
            </a:pPr>
            <a:r>
              <a:rPr lang="en-US" sz="1150" dirty="0">
                <a:solidFill>
                  <a:srgbClr val="EDF2F0"/>
                </a:solidFill>
                <a:latin typeface="Calibri" pitchFamily="34" charset="0"/>
                <a:ea typeface="Calibri" pitchFamily="34" charset="-122"/>
                <a:cs typeface="Calibri" pitchFamily="34" charset="-120"/>
              </a:rPr>
              <a:t>Ønskene, instruksene, den siste hilsenen</a:t>
            </a:r>
            <a:endParaRPr lang="en-US" sz="1150" dirty="0"/>
          </a:p>
        </p:txBody>
      </p:sp>
      <p:sp>
        <p:nvSpPr>
          <p:cNvPr id="18" name="Text 16"/>
          <p:cNvSpPr/>
          <p:nvPr/>
        </p:nvSpPr>
        <p:spPr>
          <a:xfrm>
            <a:off x="1005840" y="5248656"/>
            <a:ext cx="5029200" cy="502920"/>
          </a:xfrm>
          <a:prstGeom prst="rect">
            <a:avLst/>
          </a:prstGeom>
          <a:noFill/>
          <a:ln/>
        </p:spPr>
        <p:txBody>
          <a:bodyPr wrap="square" lIns="0" tIns="0" rIns="0" bIns="0" rtlCol="0" anchor="ctr"/>
          <a:lstStyle/>
          <a:p>
            <a:pPr indent="0" marL="0">
              <a:lnSpc>
                <a:spcPts val="1400"/>
              </a:lnSpc>
              <a:buNone/>
            </a:pPr>
            <a:r>
              <a:rPr lang="en-US" sz="1150" dirty="0">
                <a:solidFill>
                  <a:srgbClr val="9FB3AD"/>
                </a:solidFill>
                <a:latin typeface="Calibri" pitchFamily="34" charset="0"/>
                <a:ea typeface="Calibri" pitchFamily="34" charset="-122"/>
                <a:cs typeface="Calibri" pitchFamily="34" charset="-120"/>
              </a:rPr>
              <a:t>Arvingene</a:t>
            </a:r>
            <a:endParaRPr lang="en-US" sz="1150" dirty="0"/>
          </a:p>
        </p:txBody>
      </p:sp>
      <p:sp>
        <p:nvSpPr>
          <p:cNvPr id="19" name="Text 17"/>
          <p:cNvSpPr/>
          <p:nvPr/>
        </p:nvSpPr>
        <p:spPr>
          <a:xfrm>
            <a:off x="6812280" y="5248656"/>
            <a:ext cx="4389120" cy="502920"/>
          </a:xfrm>
          <a:prstGeom prst="rect">
            <a:avLst/>
          </a:prstGeom>
          <a:noFill/>
          <a:ln/>
        </p:spPr>
        <p:txBody>
          <a:bodyPr wrap="square" lIns="0" tIns="0" rIns="0" bIns="0" rtlCol="0" anchor="ctr"/>
          <a:lstStyle/>
          <a:p>
            <a:pPr indent="0" marL="0">
              <a:lnSpc>
                <a:spcPts val="1400"/>
              </a:lnSpc>
              <a:buNone/>
            </a:pPr>
            <a:r>
              <a:rPr lang="en-US" sz="1150" dirty="0">
                <a:solidFill>
                  <a:srgbClr val="EDF2F0"/>
                </a:solidFill>
                <a:latin typeface="Calibri" pitchFamily="34" charset="0"/>
                <a:ea typeface="Calibri" pitchFamily="34" charset="-122"/>
                <a:cs typeface="Calibri" pitchFamily="34" charset="-120"/>
              </a:rPr>
              <a:t>Mottakerne eieren selv har pekt ut, som ikke alltid er arvingene</a:t>
            </a:r>
            <a:endParaRPr lang="en-US" sz="1150" dirty="0"/>
          </a:p>
        </p:txBody>
      </p:sp>
      <p:sp>
        <p:nvSpPr>
          <p:cNvPr id="20" name="Text 18"/>
          <p:cNvSpPr/>
          <p:nvPr/>
        </p:nvSpPr>
        <p:spPr>
          <a:xfrm>
            <a:off x="685800" y="5989320"/>
            <a:ext cx="10149840" cy="292608"/>
          </a:xfrm>
          <a:prstGeom prst="rect">
            <a:avLst/>
          </a:prstGeom>
          <a:noFill/>
          <a:ln/>
        </p:spPr>
        <p:txBody>
          <a:bodyPr wrap="square" lIns="0" tIns="0" rIns="0" bIns="0" rtlCol="0" anchor="t"/>
          <a:lstStyle/>
          <a:p>
            <a:pPr algn="l" indent="0" marL="0">
              <a:lnSpc>
                <a:spcPts val="1562"/>
              </a:lnSpc>
              <a:buNone/>
            </a:pPr>
            <a:r>
              <a:rPr lang="en-US" sz="1100" dirty="0">
                <a:solidFill>
                  <a:srgbClr val="EDF2F0"/>
                </a:solidFill>
                <a:latin typeface="Calibri" pitchFamily="34" charset="0"/>
                <a:ea typeface="Calibri" pitchFamily="34" charset="-122"/>
                <a:cs typeface="Calibri" pitchFamily="34" charset="-120"/>
              </a:rPr>
              <a:t>At staten tok den registerbaserte delen er bra for oss. «Egen økonomisk oversikt» er strøket fra roadmapen med den begrunnelsen.</a:t>
            </a:r>
            <a:endParaRPr lang="en-US" sz="1100" dirty="0"/>
          </a:p>
        </p:txBody>
      </p:sp>
      <p:sp>
        <p:nvSpPr>
          <p:cNvPr id="21" name="Text 19"/>
          <p:cNvSpPr/>
          <p:nvPr/>
        </p:nvSpPr>
        <p:spPr>
          <a:xfrm>
            <a:off x="685800" y="6400800"/>
            <a:ext cx="10180015" cy="411480"/>
          </a:xfrm>
          <a:prstGeom prst="rect">
            <a:avLst/>
          </a:prstGeom>
          <a:noFill/>
          <a:ln/>
        </p:spPr>
        <p:txBody>
          <a:bodyPr wrap="square" lIns="0" tIns="0" rIns="0" bIns="0" rtlCol="0" anchor="t"/>
          <a:lstStyle/>
          <a:p>
            <a:pPr indent="0" marL="0">
              <a:lnSpc>
                <a:spcPts val="1200"/>
              </a:lnSpc>
              <a:buNone/>
            </a:pPr>
            <a:r>
              <a:rPr lang="en-US" sz="900" dirty="0">
                <a:solidFill>
                  <a:srgbClr val="6E8794"/>
                </a:solidFill>
                <a:latin typeface="Calibri" pitchFamily="34" charset="0"/>
                <a:ea typeface="Calibri" pitchFamily="34" charset="-122"/>
                <a:cs typeface="Calibri" pitchFamily="34" charset="-120"/>
              </a:rPr>
              <a:t>Digitalt dødsbo (Digdir/Kartverket, lansert juni 2025). Begge nettsteder svarte 403 på automatisk henting 28.07.2026 — funnene bygger på søkeindeksens gjengivelse, ikke på lest primærkilde, og må verifiseres manuelt før de brukes i en avtale.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EXIT-GARANTIEN</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11</a:t>
            </a:r>
            <a:endParaRPr lang="en-US" sz="900" dirty="0"/>
          </a:p>
        </p:txBody>
      </p:sp>
      <p:sp>
        <p:nvSpPr>
          <p:cNvPr id="4" name="Text 2"/>
          <p:cNvSpPr/>
          <p:nvPr/>
        </p:nvSpPr>
        <p:spPr>
          <a:xfrm>
            <a:off x="685800" y="868680"/>
            <a:ext cx="6766560" cy="868680"/>
          </a:xfrm>
          <a:prstGeom prst="rect">
            <a:avLst/>
          </a:prstGeom>
          <a:noFill/>
          <a:ln/>
        </p:spPr>
        <p:txBody>
          <a:bodyPr wrap="square" lIns="0" tIns="0" rIns="0" bIns="0" rtlCol="0" anchor="t"/>
          <a:lstStyle/>
          <a:p>
            <a:pPr indent="0" marL="0">
              <a:lnSpc>
                <a:spcPts val="3540"/>
              </a:lnSpc>
              <a:buNone/>
            </a:pPr>
            <a:r>
              <a:rPr lang="en-US" sz="3000" b="1" dirty="0">
                <a:solidFill>
                  <a:srgbClr val="EDF2F0"/>
                </a:solidFill>
                <a:latin typeface="Georgia" pitchFamily="34" charset="0"/>
                <a:ea typeface="Georgia" pitchFamily="34" charset="-122"/>
                <a:cs typeface="Georgia" pitchFamily="34" charset="-120"/>
              </a:rPr>
              <a:t>Arkivet skal overleve selskapet</a:t>
            </a:r>
            <a:endParaRPr lang="en-US" sz="3000" dirty="0"/>
          </a:p>
        </p:txBody>
      </p:sp>
      <p:sp>
        <p:nvSpPr>
          <p:cNvPr id="5" name="Text 3"/>
          <p:cNvSpPr/>
          <p:nvPr/>
        </p:nvSpPr>
        <p:spPr>
          <a:xfrm>
            <a:off x="685800" y="1874520"/>
            <a:ext cx="6309360" cy="914400"/>
          </a:xfrm>
          <a:prstGeom prst="rect">
            <a:avLst/>
          </a:prstGeom>
          <a:noFill/>
          <a:ln/>
        </p:spPr>
        <p:txBody>
          <a:bodyPr wrap="square" lIns="0" tIns="0" rIns="0" bIns="0" rtlCol="0" anchor="t"/>
          <a:lstStyle/>
          <a:p>
            <a:pPr algn="l" indent="0" marL="0">
              <a:lnSpc>
                <a:spcPts val="2130"/>
              </a:lnSpc>
              <a:buNone/>
            </a:pPr>
            <a:r>
              <a:rPr lang="en-US" sz="1500" dirty="0">
                <a:solidFill>
                  <a:srgbClr val="EDF2F0"/>
                </a:solidFill>
                <a:latin typeface="Calibri" pitchFamily="34" charset="0"/>
                <a:ea typeface="Calibri" pitchFamily="34" charset="-122"/>
                <a:cs typeface="Calibri" pitchFamily="34" charset="-120"/>
              </a:rPr>
              <a:t>Eksporten ble bygget først. GET /api/eksport gir eieren alt sitt som JSON, inkludert de frasepakkede krypteringsnøklene, slik at innholdet kan dekrypteres uten oss.</a:t>
            </a:r>
            <a:endParaRPr lang="en-US" sz="1500" dirty="0"/>
          </a:p>
        </p:txBody>
      </p:sp>
      <p:sp>
        <p:nvSpPr>
          <p:cNvPr id="6" name="Shape 4"/>
          <p:cNvSpPr/>
          <p:nvPr/>
        </p:nvSpPr>
        <p:spPr>
          <a:xfrm>
            <a:off x="685800" y="2971800"/>
            <a:ext cx="6309360" cy="1417320"/>
          </a:xfrm>
          <a:prstGeom prst="roundRect">
            <a:avLst>
              <a:gd name="adj" fmla="val 5806"/>
            </a:avLst>
          </a:prstGeom>
          <a:solidFill>
            <a:srgbClr val="16283A"/>
          </a:solidFill>
          <a:ln w="12700">
            <a:solidFill>
              <a:srgbClr val="27405A"/>
            </a:solidFill>
            <a:prstDash val="solid"/>
          </a:ln>
        </p:spPr>
      </p:sp>
      <p:sp>
        <p:nvSpPr>
          <p:cNvPr id="7" name="Text 5"/>
          <p:cNvSpPr/>
          <p:nvPr/>
        </p:nvSpPr>
        <p:spPr>
          <a:xfrm>
            <a:off x="1005840" y="3200400"/>
            <a:ext cx="5669280" cy="237744"/>
          </a:xfrm>
          <a:prstGeom prst="rect">
            <a:avLst/>
          </a:prstGeom>
          <a:noFill/>
          <a:ln/>
        </p:spPr>
        <p:txBody>
          <a:bodyPr wrap="square" lIns="0" tIns="0" rIns="0" bIns="0" rtlCol="0" anchor="ctr"/>
          <a:lstStyle/>
          <a:p>
            <a:pPr indent="0" marL="0">
              <a:buNone/>
            </a:pPr>
            <a:r>
              <a:rPr lang="en-US" sz="900" spc="200" kern="0" dirty="0">
                <a:solidFill>
                  <a:srgbClr val="7FB7A3"/>
                </a:solidFill>
                <a:latin typeface="Courier New" pitchFamily="34" charset="0"/>
                <a:ea typeface="Courier New" pitchFamily="34" charset="-122"/>
                <a:cs typeface="Courier New" pitchFamily="34" charset="-120"/>
              </a:rPr>
              <a:t>I DEMOEN</a:t>
            </a:r>
            <a:endParaRPr lang="en-US" sz="900" dirty="0"/>
          </a:p>
        </p:txBody>
      </p:sp>
      <p:sp>
        <p:nvSpPr>
          <p:cNvPr id="8" name="Text 6"/>
          <p:cNvSpPr/>
          <p:nvPr/>
        </p:nvSpPr>
        <p:spPr>
          <a:xfrm>
            <a:off x="1005840" y="3547872"/>
            <a:ext cx="5669280" cy="731520"/>
          </a:xfrm>
          <a:prstGeom prst="rect">
            <a:avLst/>
          </a:prstGeom>
          <a:noFill/>
          <a:ln/>
        </p:spPr>
        <p:txBody>
          <a:bodyPr wrap="square" lIns="0" tIns="0" rIns="0" bIns="0" rtlCol="0" anchor="t"/>
          <a:lstStyle/>
          <a:p>
            <a:pPr algn="l" indent="0" marL="0">
              <a:lnSpc>
                <a:spcPts val="1988"/>
              </a:lnSpc>
              <a:buNone/>
            </a:pPr>
            <a:r>
              <a:rPr lang="en-US" sz="1400" dirty="0">
                <a:solidFill>
                  <a:srgbClr val="EDF2F0"/>
                </a:solidFill>
                <a:latin typeface="Calibri" pitchFamily="34" charset="0"/>
                <a:ea typeface="Calibri" pitchFamily="34" charset="-122"/>
                <a:cs typeface="Calibri" pitchFamily="34" charset="-120"/>
              </a:rPr>
              <a:t>Serveren slås av. Filen åpnes. Sikkerhetsfrasen skrives, og innholdet kommer fram. Det er ikke en klausul i vilkårene — det er en fil.</a:t>
            </a:r>
            <a:endParaRPr lang="en-US" sz="1400" dirty="0"/>
          </a:p>
        </p:txBody>
      </p:sp>
      <p:sp>
        <p:nvSpPr>
          <p:cNvPr id="9" name="Shape 7"/>
          <p:cNvSpPr/>
          <p:nvPr/>
        </p:nvSpPr>
        <p:spPr>
          <a:xfrm>
            <a:off x="685800" y="4572000"/>
            <a:ext cx="6309360" cy="1371600"/>
          </a:xfrm>
          <a:prstGeom prst="roundRect">
            <a:avLst>
              <a:gd name="adj" fmla="val 6000"/>
            </a:avLst>
          </a:prstGeom>
          <a:solidFill>
            <a:srgbClr val="16283A"/>
          </a:solidFill>
          <a:ln w="12700">
            <a:solidFill>
              <a:srgbClr val="27405A"/>
            </a:solidFill>
            <a:prstDash val="solid"/>
          </a:ln>
        </p:spPr>
      </p:sp>
      <p:sp>
        <p:nvSpPr>
          <p:cNvPr id="10" name="Text 8"/>
          <p:cNvSpPr/>
          <p:nvPr/>
        </p:nvSpPr>
        <p:spPr>
          <a:xfrm>
            <a:off x="1005840" y="4800600"/>
            <a:ext cx="5669280" cy="237744"/>
          </a:xfrm>
          <a:prstGeom prst="rect">
            <a:avLst/>
          </a:prstGeom>
          <a:noFill/>
          <a:ln/>
        </p:spPr>
        <p:txBody>
          <a:bodyPr wrap="square" lIns="0" tIns="0" rIns="0" bIns="0" rtlCol="0" anchor="ctr"/>
          <a:lstStyle/>
          <a:p>
            <a:pPr indent="0" marL="0">
              <a:buNone/>
            </a:pPr>
            <a:r>
              <a:rPr lang="en-US" sz="900" spc="160" kern="0" dirty="0">
                <a:solidFill>
                  <a:srgbClr val="D9B36B"/>
                </a:solidFill>
                <a:latin typeface="Courier New" pitchFamily="34" charset="0"/>
                <a:ea typeface="Courier New" pitchFamily="34" charset="-122"/>
                <a:cs typeface="Courier New" pitchFamily="34" charset="-120"/>
              </a:rPr>
              <a:t>ÅPENT: HALVE SVARET GJENSTÅR</a:t>
            </a:r>
            <a:endParaRPr lang="en-US" sz="900" dirty="0"/>
          </a:p>
        </p:txBody>
      </p:sp>
      <p:sp>
        <p:nvSpPr>
          <p:cNvPr id="11" name="Text 9"/>
          <p:cNvSpPr/>
          <p:nvPr/>
        </p:nvSpPr>
        <p:spPr>
          <a:xfrm>
            <a:off x="1005840" y="5138928"/>
            <a:ext cx="5669280" cy="777240"/>
          </a:xfrm>
          <a:prstGeom prst="rect">
            <a:avLst/>
          </a:prstGeom>
          <a:noFill/>
          <a:ln/>
        </p:spPr>
        <p:txBody>
          <a:bodyPr wrap="square" lIns="0" tIns="0" rIns="0" bIns="0" rtlCol="0" anchor="t"/>
          <a:lstStyle/>
          <a:p>
            <a:pPr algn="l" indent="0" marL="0">
              <a:lnSpc>
                <a:spcPts val="1775"/>
              </a:lnSpc>
              <a:buNone/>
            </a:pPr>
            <a:r>
              <a:rPr lang="en-US" sz="1250" dirty="0">
                <a:solidFill>
                  <a:srgbClr val="9FB3AD"/>
                </a:solidFill>
                <a:latin typeface="Calibri" pitchFamily="34" charset="0"/>
                <a:ea typeface="Calibri" pitchFamily="34" charset="-122"/>
                <a:cs typeface="Calibri" pitchFamily="34" charset="-120"/>
              </a:rPr>
              <a:t>Exit-planen ved selskapsopphør er ikke dokumentert. Hvem varsler brukerne, hvor lang frist får de, hvem har ansvaret hvis vi ikke finnes? Den skrives før vilkårene publiseres.</a:t>
            </a:r>
            <a:endParaRPr lang="en-US" sz="1250" dirty="0"/>
          </a:p>
        </p:txBody>
      </p:sp>
      <p:sp>
        <p:nvSpPr>
          <p:cNvPr id="12" name="Shape 10"/>
          <p:cNvSpPr/>
          <p:nvPr/>
        </p:nvSpPr>
        <p:spPr>
          <a:xfrm>
            <a:off x="7388352" y="2176272"/>
            <a:ext cx="3877056" cy="3410712"/>
          </a:xfrm>
          <a:prstGeom prst="roundRect">
            <a:avLst>
              <a:gd name="adj" fmla="val 3217"/>
            </a:avLst>
          </a:prstGeom>
          <a:solidFill>
            <a:srgbClr val="16283A"/>
          </a:solidFill>
          <a:ln w="12700">
            <a:solidFill>
              <a:srgbClr val="27405A"/>
            </a:solidFill>
            <a:prstDash val="solid"/>
          </a:ln>
        </p:spPr>
      </p:sp>
      <p:pic>
        <p:nvPicPr>
          <p:cNvPr id="13" name="Image 0" descr="/tmp/claude-0/-home-user-Eik-sales-repo/e4ee2b0e-596f-5b8f-87ca-a31b6f104195/scratchpad/dekk/eksport.png">    </p:cNvPr>
          <p:cNvPicPr>
            <a:picLocks noChangeAspect="1"/>
          </p:cNvPicPr>
          <p:nvPr/>
        </p:nvPicPr>
        <p:blipFill>
          <a:blip r:embed="rId1"/>
          <a:stretch>
            <a:fillRect/>
          </a:stretch>
        </p:blipFill>
        <p:spPr>
          <a:xfrm>
            <a:off x="7498080" y="2286000"/>
            <a:ext cx="3657600" cy="3191256"/>
          </a:xfrm>
          <a:prstGeom prst="rect">
            <a:avLst/>
          </a:prstGeom>
        </p:spPr>
      </p:pic>
      <p:sp>
        <p:nvSpPr>
          <p:cNvPr id="14" name="Text 11"/>
          <p:cNvSpPr/>
          <p:nvPr/>
        </p:nvSpPr>
        <p:spPr>
          <a:xfrm>
            <a:off x="685800" y="6172200"/>
            <a:ext cx="10180015" cy="411480"/>
          </a:xfrm>
          <a:prstGeom prst="rect">
            <a:avLst/>
          </a:prstGeom>
          <a:noFill/>
          <a:ln/>
        </p:spPr>
        <p:txBody>
          <a:bodyPr wrap="square" lIns="0" tIns="0" rIns="0" bIns="0" rtlCol="0" anchor="t"/>
          <a:lstStyle/>
          <a:p>
            <a:pPr indent="0" marL="0">
              <a:lnSpc>
                <a:spcPts val="1200"/>
              </a:lnSpc>
              <a:buNone/>
            </a:pPr>
            <a:r>
              <a:rPr lang="en-US" sz="900" dirty="0">
                <a:solidFill>
                  <a:srgbClr val="6E8794"/>
                </a:solidFill>
                <a:latin typeface="Calibri" pitchFamily="34" charset="0"/>
                <a:ea typeface="Calibri" pitchFamily="34" charset="-122"/>
                <a:cs typeface="Calibri" pitchFamily="34" charset="-120"/>
              </a:rPr>
              <a:t>Verifisert i server/api/konto.js. Vi vil ha begrensningen på hvem vi kan selges til inn i aksjonæravtalen — ikke som en klausul mot en exit, men mot den ene typen exit som ødelegger produktet for brukerne.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FORRETNINGSMODELL</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12</a:t>
            </a:r>
            <a:endParaRPr lang="en-US" sz="900" dirty="0"/>
          </a:p>
        </p:txBody>
      </p:sp>
      <p:sp>
        <p:nvSpPr>
          <p:cNvPr id="4" name="Text 2"/>
          <p:cNvSpPr/>
          <p:nvPr/>
        </p:nvSpPr>
        <p:spPr>
          <a:xfrm>
            <a:off x="685800" y="868680"/>
            <a:ext cx="10424160" cy="868680"/>
          </a:xfrm>
          <a:prstGeom prst="rect">
            <a:avLst/>
          </a:prstGeom>
          <a:noFill/>
          <a:ln/>
        </p:spPr>
        <p:txBody>
          <a:bodyPr wrap="square" lIns="0" tIns="0" rIns="0" bIns="0" rtlCol="0" anchor="t"/>
          <a:lstStyle/>
          <a:p>
            <a:pPr indent="0" marL="0">
              <a:lnSpc>
                <a:spcPts val="3304"/>
              </a:lnSpc>
              <a:buNone/>
            </a:pPr>
            <a:r>
              <a:rPr lang="en-US" sz="2800" b="1" dirty="0">
                <a:solidFill>
                  <a:srgbClr val="EDF2F0"/>
                </a:solidFill>
                <a:latin typeface="Georgia" pitchFamily="34" charset="0"/>
                <a:ea typeface="Georgia" pitchFamily="34" charset="-122"/>
                <a:cs typeface="Georgia" pitchFamily="34" charset="-120"/>
              </a:rPr>
              <a:t>B2B2C — fordi produktet allerede er bygget for det</a:t>
            </a:r>
            <a:endParaRPr lang="en-US" sz="2800" dirty="0"/>
          </a:p>
        </p:txBody>
      </p:sp>
      <p:sp>
        <p:nvSpPr>
          <p:cNvPr id="5" name="Shape 3"/>
          <p:cNvSpPr/>
          <p:nvPr/>
        </p:nvSpPr>
        <p:spPr>
          <a:xfrm>
            <a:off x="685800" y="1874520"/>
            <a:ext cx="6583680" cy="1234440"/>
          </a:xfrm>
          <a:prstGeom prst="roundRect">
            <a:avLst>
              <a:gd name="adj" fmla="val 6667"/>
            </a:avLst>
          </a:prstGeom>
          <a:solidFill>
            <a:srgbClr val="0E1B25"/>
          </a:solidFill>
          <a:ln w="12700">
            <a:solidFill>
              <a:srgbClr val="27405A"/>
            </a:solidFill>
            <a:prstDash val="solid"/>
          </a:ln>
        </p:spPr>
      </p:sp>
      <p:sp>
        <p:nvSpPr>
          <p:cNvPr id="6" name="Text 4"/>
          <p:cNvSpPr/>
          <p:nvPr/>
        </p:nvSpPr>
        <p:spPr>
          <a:xfrm>
            <a:off x="1005840" y="2084832"/>
            <a:ext cx="5943600" cy="237744"/>
          </a:xfrm>
          <a:prstGeom prst="rect">
            <a:avLst/>
          </a:prstGeom>
          <a:noFill/>
          <a:ln/>
        </p:spPr>
        <p:txBody>
          <a:bodyPr wrap="square" lIns="0" tIns="0" rIns="0" bIns="0" rtlCol="0" anchor="ctr"/>
          <a:lstStyle/>
          <a:p>
            <a:pPr indent="0" marL="0">
              <a:buNone/>
            </a:pPr>
            <a:r>
              <a:rPr lang="en-US" sz="900" spc="160" kern="0" dirty="0">
                <a:solidFill>
                  <a:srgbClr val="D9B36B"/>
                </a:solidFill>
                <a:latin typeface="Courier New" pitchFamily="34" charset="0"/>
                <a:ea typeface="Courier New" pitchFamily="34" charset="-122"/>
                <a:cs typeface="Courier New" pitchFamily="34" charset="-120"/>
              </a:rPr>
              <a:t>PRINSIPPET VI IKKE BØYER</a:t>
            </a:r>
            <a:endParaRPr lang="en-US" sz="900" dirty="0"/>
          </a:p>
        </p:txBody>
      </p:sp>
      <p:sp>
        <p:nvSpPr>
          <p:cNvPr id="7" name="Text 5"/>
          <p:cNvSpPr/>
          <p:nvPr/>
        </p:nvSpPr>
        <p:spPr>
          <a:xfrm>
            <a:off x="1005840" y="2423160"/>
            <a:ext cx="5943600" cy="594360"/>
          </a:xfrm>
          <a:prstGeom prst="rect">
            <a:avLst/>
          </a:prstGeom>
          <a:noFill/>
          <a:ln/>
        </p:spPr>
        <p:txBody>
          <a:bodyPr wrap="square" lIns="0" tIns="0" rIns="0" bIns="0" rtlCol="0" anchor="t"/>
          <a:lstStyle/>
          <a:p>
            <a:pPr algn="l" indent="0" marL="0">
              <a:lnSpc>
                <a:spcPts val="1846"/>
              </a:lnSpc>
              <a:buNone/>
            </a:pPr>
            <a:r>
              <a:rPr lang="en-US" sz="1300" dirty="0">
                <a:solidFill>
                  <a:srgbClr val="EDF2F0"/>
                </a:solidFill>
                <a:latin typeface="Calibri" pitchFamily="34" charset="0"/>
                <a:ea typeface="Calibri" pitchFamily="34" charset="-122"/>
                <a:cs typeface="Calibri" pitchFamily="34" charset="-120"/>
              </a:rPr>
              <a:t>Vi tjener aldri penger på å påvirke valg vi har privilegert innsyn i. Ingen provisjon på strøm, ingen provisjon på forsikring, aldri salg av data.</a:t>
            </a:r>
            <a:endParaRPr lang="en-US" sz="1300" dirty="0"/>
          </a:p>
        </p:txBody>
      </p:sp>
      <p:sp>
        <p:nvSpPr>
          <p:cNvPr id="8" name="Text 6"/>
          <p:cNvSpPr/>
          <p:nvPr/>
        </p:nvSpPr>
        <p:spPr>
          <a:xfrm>
            <a:off x="685800" y="3291840"/>
            <a:ext cx="6583680" cy="914400"/>
          </a:xfrm>
          <a:prstGeom prst="rect">
            <a:avLst/>
          </a:prstGeom>
          <a:noFill/>
          <a:ln/>
        </p:spPr>
        <p:txBody>
          <a:bodyPr wrap="square" lIns="0" tIns="0" rIns="0" bIns="0" rtlCol="0" anchor="t"/>
          <a:lstStyle/>
          <a:p>
            <a:pPr algn="l" indent="0" marL="0">
              <a:lnSpc>
                <a:spcPts val="1988"/>
              </a:lnSpc>
              <a:buNone/>
            </a:pPr>
            <a:r>
              <a:rPr lang="en-US" sz="1400" dirty="0">
                <a:solidFill>
                  <a:srgbClr val="EDF2F0"/>
                </a:solidFill>
                <a:latin typeface="Calibri" pitchFamily="34" charset="0"/>
                <a:ea typeface="Calibri" pitchFamily="34" charset="-122"/>
                <a:cs typeface="Calibri" pitchFamily="34" charset="-120"/>
              </a:rPr>
              <a:t>Et forsikringsselskap, en bank eller en medlemsorganisasjon tilbyr Livsarkivet under egen merkevare og egen innlogging, og betaler per aktiv bruker. Sluttbrukeren betaler ingenting.</a:t>
            </a:r>
            <a:endParaRPr lang="en-US" sz="1400" dirty="0"/>
          </a:p>
        </p:txBody>
      </p:sp>
      <p:sp>
        <p:nvSpPr>
          <p:cNvPr id="9" name="Text 7"/>
          <p:cNvSpPr/>
          <p:nvPr/>
        </p:nvSpPr>
        <p:spPr>
          <a:xfrm>
            <a:off x="685800" y="4297680"/>
            <a:ext cx="6583680" cy="1097280"/>
          </a:xfrm>
          <a:prstGeom prst="rect">
            <a:avLst/>
          </a:prstGeom>
          <a:noFill/>
          <a:ln/>
        </p:spPr>
        <p:txBody>
          <a:bodyPr wrap="square" lIns="0" tIns="0" rIns="0" bIns="0" rtlCol="0" anchor="t"/>
          <a:lstStyle/>
          <a:p>
            <a:pPr algn="l" indent="0" marL="0">
              <a:lnSpc>
                <a:spcPts val="1846"/>
              </a:lnSpc>
              <a:buNone/>
            </a:pPr>
            <a:r>
              <a:rPr lang="en-US" sz="1300" dirty="0">
                <a:solidFill>
                  <a:srgbClr val="9FB3AD"/>
                </a:solidFill>
                <a:latin typeface="Calibri" pitchFamily="34" charset="0"/>
                <a:ea typeface="Calibri" pitchFamily="34" charset="-122"/>
                <a:cs typeface="Calibri" pitchFamily="34" charset="-120"/>
              </a:rPr>
              <a:t>Tenant-isolasjon, white-label, delingslag, webhook, selskaps-API og OIDC er ferdig kode, ikke en plan. Direkte abonnement beholdes ved siden av — et produkt som bare finnes gjennom én partner, dør med den partneren.</a:t>
            </a:r>
            <a:endParaRPr lang="en-US" sz="1300" dirty="0"/>
          </a:p>
        </p:txBody>
      </p:sp>
      <p:sp>
        <p:nvSpPr>
          <p:cNvPr id="10" name="Shape 8"/>
          <p:cNvSpPr/>
          <p:nvPr/>
        </p:nvSpPr>
        <p:spPr>
          <a:xfrm>
            <a:off x="685800" y="5486400"/>
            <a:ext cx="6583680" cy="822960"/>
          </a:xfrm>
          <a:prstGeom prst="roundRect">
            <a:avLst>
              <a:gd name="adj" fmla="val 10000"/>
            </a:avLst>
          </a:prstGeom>
          <a:solidFill>
            <a:srgbClr val="16283A"/>
          </a:solidFill>
          <a:ln w="12700">
            <a:solidFill>
              <a:srgbClr val="27405A"/>
            </a:solidFill>
            <a:prstDash val="solid"/>
          </a:ln>
        </p:spPr>
      </p:sp>
      <p:sp>
        <p:nvSpPr>
          <p:cNvPr id="11" name="Text 9"/>
          <p:cNvSpPr/>
          <p:nvPr/>
        </p:nvSpPr>
        <p:spPr>
          <a:xfrm>
            <a:off x="1005840" y="5669280"/>
            <a:ext cx="5943600" cy="502920"/>
          </a:xfrm>
          <a:prstGeom prst="rect">
            <a:avLst/>
          </a:prstGeom>
          <a:noFill/>
          <a:ln/>
        </p:spPr>
        <p:txBody>
          <a:bodyPr wrap="square" lIns="0" tIns="0" rIns="0" bIns="0" rtlCol="0" anchor="t"/>
          <a:lstStyle/>
          <a:p>
            <a:pPr algn="l" indent="0" marL="0">
              <a:lnSpc>
                <a:spcPts val="1846"/>
              </a:lnSpc>
              <a:buNone/>
            </a:pPr>
            <a:r>
              <a:rPr lang="en-US" sz="1300" b="1" dirty="0">
                <a:solidFill>
                  <a:srgbClr val="EDF2F0"/>
                </a:solidFill>
                <a:latin typeface="Calibri" pitchFamily="34" charset="0"/>
                <a:ea typeface="Calibri" pitchFamily="34" charset="-122"/>
                <a:cs typeface="Calibri" pitchFamily="34" charset="-120"/>
              </a:rPr>
              <a:t>Prisen er ikke satt. Vi har ikke et tall vi kan forsvare, og vi vil ikke finne på et. Det settes i den første forhandlingen.</a:t>
            </a:r>
            <a:endParaRPr lang="en-US" sz="1300" dirty="0"/>
          </a:p>
        </p:txBody>
      </p:sp>
      <p:sp>
        <p:nvSpPr>
          <p:cNvPr id="12" name="Text 10"/>
          <p:cNvSpPr/>
          <p:nvPr/>
        </p:nvSpPr>
        <p:spPr>
          <a:xfrm>
            <a:off x="7772400" y="1874520"/>
            <a:ext cx="3749040" cy="237744"/>
          </a:xfrm>
          <a:prstGeom prst="rect">
            <a:avLst/>
          </a:prstGeom>
          <a:noFill/>
          <a:ln/>
        </p:spPr>
        <p:txBody>
          <a:bodyPr wrap="square" lIns="0" tIns="0" rIns="0" bIns="0" rtlCol="0" anchor="ctr"/>
          <a:lstStyle/>
          <a:p>
            <a:pPr indent="0" marL="0">
              <a:buNone/>
            </a:pPr>
            <a:r>
              <a:rPr lang="en-US" sz="900" spc="160" kern="0" dirty="0">
                <a:solidFill>
                  <a:srgbClr val="7FB7A3"/>
                </a:solidFill>
                <a:latin typeface="Courier New" pitchFamily="34" charset="0"/>
                <a:ea typeface="Courier New" pitchFamily="34" charset="-122"/>
                <a:cs typeface="Courier New" pitchFamily="34" charset="-120"/>
              </a:rPr>
              <a:t>SALGSREKKEFØLGEN</a:t>
            </a:r>
            <a:endParaRPr lang="en-US" sz="900" dirty="0"/>
          </a:p>
        </p:txBody>
      </p:sp>
      <p:sp>
        <p:nvSpPr>
          <p:cNvPr id="13" name="Shape 11"/>
          <p:cNvSpPr/>
          <p:nvPr/>
        </p:nvSpPr>
        <p:spPr>
          <a:xfrm>
            <a:off x="7772400" y="2286000"/>
            <a:ext cx="3730752" cy="1207008"/>
          </a:xfrm>
          <a:prstGeom prst="roundRect">
            <a:avLst>
              <a:gd name="adj" fmla="val 6818"/>
            </a:avLst>
          </a:prstGeom>
          <a:solidFill>
            <a:srgbClr val="16283A"/>
          </a:solidFill>
          <a:ln w="12700">
            <a:solidFill>
              <a:srgbClr val="27405A"/>
            </a:solidFill>
            <a:prstDash val="solid"/>
          </a:ln>
        </p:spPr>
      </p:sp>
      <p:sp>
        <p:nvSpPr>
          <p:cNvPr id="14" name="Text 12"/>
          <p:cNvSpPr/>
          <p:nvPr/>
        </p:nvSpPr>
        <p:spPr>
          <a:xfrm>
            <a:off x="8046720" y="2468880"/>
            <a:ext cx="365760" cy="320040"/>
          </a:xfrm>
          <a:prstGeom prst="rect">
            <a:avLst/>
          </a:prstGeom>
          <a:noFill/>
          <a:ln/>
        </p:spPr>
        <p:txBody>
          <a:bodyPr wrap="square" lIns="0" tIns="0" rIns="0" bIns="0" rtlCol="0" anchor="ctr"/>
          <a:lstStyle/>
          <a:p>
            <a:pPr indent="0" marL="0">
              <a:buNone/>
            </a:pPr>
            <a:r>
              <a:rPr lang="en-US" sz="1200" dirty="0">
                <a:solidFill>
                  <a:srgbClr val="7FB7A3"/>
                </a:solidFill>
                <a:latin typeface="Courier New" pitchFamily="34" charset="0"/>
                <a:ea typeface="Courier New" pitchFamily="34" charset="-122"/>
                <a:cs typeface="Courier New" pitchFamily="34" charset="-120"/>
              </a:rPr>
              <a:t>1</a:t>
            </a:r>
            <a:endParaRPr lang="en-US" sz="1200" dirty="0"/>
          </a:p>
        </p:txBody>
      </p:sp>
      <p:sp>
        <p:nvSpPr>
          <p:cNvPr id="15" name="Text 13"/>
          <p:cNvSpPr/>
          <p:nvPr/>
        </p:nvSpPr>
        <p:spPr>
          <a:xfrm>
            <a:off x="8458200" y="2468880"/>
            <a:ext cx="2743200" cy="320040"/>
          </a:xfrm>
          <a:prstGeom prst="rect">
            <a:avLst/>
          </a:prstGeom>
          <a:noFill/>
          <a:ln/>
        </p:spPr>
        <p:txBody>
          <a:bodyPr wrap="square" lIns="0" tIns="0" rIns="0" bIns="0" rtlCol="0" anchor="t"/>
          <a:lstStyle/>
          <a:p>
            <a:pPr algn="l" indent="0" marL="0">
              <a:lnSpc>
                <a:spcPts val="1846"/>
              </a:lnSpc>
              <a:buNone/>
            </a:pPr>
            <a:r>
              <a:rPr lang="en-US" sz="1300" b="1" dirty="0">
                <a:solidFill>
                  <a:srgbClr val="EDF2F0"/>
                </a:solidFill>
                <a:latin typeface="Calibri" pitchFamily="34" charset="0"/>
                <a:ea typeface="Calibri" pitchFamily="34" charset="-122"/>
                <a:cs typeface="Calibri" pitchFamily="34" charset="-120"/>
              </a:rPr>
              <a:t>Medlemsorganisasjon</a:t>
            </a:r>
            <a:endParaRPr lang="en-US" sz="1300" dirty="0"/>
          </a:p>
        </p:txBody>
      </p:sp>
      <p:sp>
        <p:nvSpPr>
          <p:cNvPr id="16" name="Text 14"/>
          <p:cNvSpPr/>
          <p:nvPr/>
        </p:nvSpPr>
        <p:spPr>
          <a:xfrm>
            <a:off x="8046720" y="2852928"/>
            <a:ext cx="3154680" cy="548640"/>
          </a:xfrm>
          <a:prstGeom prst="rect">
            <a:avLst/>
          </a:prstGeom>
          <a:noFill/>
          <a:ln/>
        </p:spPr>
        <p:txBody>
          <a:bodyPr wrap="square" lIns="0" tIns="0" rIns="0" bIns="0" rtlCol="0" anchor="t"/>
          <a:lstStyle/>
          <a:p>
            <a:pPr algn="l" indent="0" marL="0">
              <a:lnSpc>
                <a:spcPts val="1491"/>
              </a:lnSpc>
              <a:buNone/>
            </a:pPr>
            <a:r>
              <a:rPr lang="en-US" sz="1050" dirty="0">
                <a:solidFill>
                  <a:srgbClr val="9FB3AD"/>
                </a:solidFill>
                <a:latin typeface="Calibri" pitchFamily="34" charset="0"/>
                <a:ea typeface="Calibri" pitchFamily="34" charset="-122"/>
                <a:cs typeface="Calibri" pitchFamily="34" charset="-120"/>
              </a:rPr>
              <a:t>Målgruppen, troverdigheten og kortest beslutningsvei. Raskeste vei til de første tusen ekte brukerne.</a:t>
            </a:r>
            <a:endParaRPr lang="en-US" sz="1050" dirty="0"/>
          </a:p>
        </p:txBody>
      </p:sp>
      <p:sp>
        <p:nvSpPr>
          <p:cNvPr id="17" name="Shape 15"/>
          <p:cNvSpPr/>
          <p:nvPr/>
        </p:nvSpPr>
        <p:spPr>
          <a:xfrm>
            <a:off x="7772400" y="3657600"/>
            <a:ext cx="3730752" cy="1207008"/>
          </a:xfrm>
          <a:prstGeom prst="roundRect">
            <a:avLst>
              <a:gd name="adj" fmla="val 6818"/>
            </a:avLst>
          </a:prstGeom>
          <a:solidFill>
            <a:srgbClr val="16283A"/>
          </a:solidFill>
          <a:ln w="12700">
            <a:solidFill>
              <a:srgbClr val="27405A"/>
            </a:solidFill>
            <a:prstDash val="solid"/>
          </a:ln>
        </p:spPr>
      </p:sp>
      <p:sp>
        <p:nvSpPr>
          <p:cNvPr id="18" name="Text 16"/>
          <p:cNvSpPr/>
          <p:nvPr/>
        </p:nvSpPr>
        <p:spPr>
          <a:xfrm>
            <a:off x="8046720" y="3840480"/>
            <a:ext cx="365760" cy="320040"/>
          </a:xfrm>
          <a:prstGeom prst="rect">
            <a:avLst/>
          </a:prstGeom>
          <a:noFill/>
          <a:ln/>
        </p:spPr>
        <p:txBody>
          <a:bodyPr wrap="square" lIns="0" tIns="0" rIns="0" bIns="0" rtlCol="0" anchor="ctr"/>
          <a:lstStyle/>
          <a:p>
            <a:pPr indent="0" marL="0">
              <a:buNone/>
            </a:pPr>
            <a:r>
              <a:rPr lang="en-US" sz="1200" dirty="0">
                <a:solidFill>
                  <a:srgbClr val="7FB7A3"/>
                </a:solidFill>
                <a:latin typeface="Courier New" pitchFamily="34" charset="0"/>
                <a:ea typeface="Courier New" pitchFamily="34" charset="-122"/>
                <a:cs typeface="Courier New" pitchFamily="34" charset="-120"/>
              </a:rPr>
              <a:t>2</a:t>
            </a:r>
            <a:endParaRPr lang="en-US" sz="1200" dirty="0"/>
          </a:p>
        </p:txBody>
      </p:sp>
      <p:sp>
        <p:nvSpPr>
          <p:cNvPr id="19" name="Text 17"/>
          <p:cNvSpPr/>
          <p:nvPr/>
        </p:nvSpPr>
        <p:spPr>
          <a:xfrm>
            <a:off x="8458200" y="3840480"/>
            <a:ext cx="2743200" cy="320040"/>
          </a:xfrm>
          <a:prstGeom prst="rect">
            <a:avLst/>
          </a:prstGeom>
          <a:noFill/>
          <a:ln/>
        </p:spPr>
        <p:txBody>
          <a:bodyPr wrap="square" lIns="0" tIns="0" rIns="0" bIns="0" rtlCol="0" anchor="t"/>
          <a:lstStyle/>
          <a:p>
            <a:pPr algn="l" indent="0" marL="0">
              <a:lnSpc>
                <a:spcPts val="1846"/>
              </a:lnSpc>
              <a:buNone/>
            </a:pPr>
            <a:r>
              <a:rPr lang="en-US" sz="1300" b="1" dirty="0">
                <a:solidFill>
                  <a:srgbClr val="EDF2F0"/>
                </a:solidFill>
                <a:latin typeface="Calibri" pitchFamily="34" charset="0"/>
                <a:ea typeface="Calibri" pitchFamily="34" charset="-122"/>
                <a:cs typeface="Calibri" pitchFamily="34" charset="-120"/>
              </a:rPr>
              <a:t>Forsikring</a:t>
            </a:r>
            <a:endParaRPr lang="en-US" sz="1300" dirty="0"/>
          </a:p>
        </p:txBody>
      </p:sp>
      <p:sp>
        <p:nvSpPr>
          <p:cNvPr id="20" name="Text 18"/>
          <p:cNvSpPr/>
          <p:nvPr/>
        </p:nvSpPr>
        <p:spPr>
          <a:xfrm>
            <a:off x="8046720" y="4224528"/>
            <a:ext cx="3154680" cy="548640"/>
          </a:xfrm>
          <a:prstGeom prst="rect">
            <a:avLst/>
          </a:prstGeom>
          <a:noFill/>
          <a:ln/>
        </p:spPr>
        <p:txBody>
          <a:bodyPr wrap="square" lIns="0" tIns="0" rIns="0" bIns="0" rtlCol="0" anchor="t"/>
          <a:lstStyle/>
          <a:p>
            <a:pPr algn="l" indent="0" marL="0">
              <a:lnSpc>
                <a:spcPts val="1491"/>
              </a:lnSpc>
              <a:buNone/>
            </a:pPr>
            <a:r>
              <a:rPr lang="en-US" sz="1050" dirty="0">
                <a:solidFill>
                  <a:srgbClr val="9FB3AD"/>
                </a:solidFill>
                <a:latin typeface="Calibri" pitchFamily="34" charset="0"/>
                <a:ea typeface="Calibri" pitchFamily="34" charset="-122"/>
                <a:cs typeface="Calibri" pitchFamily="34" charset="-120"/>
              </a:rPr>
              <a:t>Størst potensial. 6–18 måneders salgsløp.</a:t>
            </a:r>
            <a:endParaRPr lang="en-US" sz="1050" dirty="0"/>
          </a:p>
        </p:txBody>
      </p:sp>
      <p:sp>
        <p:nvSpPr>
          <p:cNvPr id="21" name="Shape 19"/>
          <p:cNvSpPr/>
          <p:nvPr/>
        </p:nvSpPr>
        <p:spPr>
          <a:xfrm>
            <a:off x="7772400" y="5029200"/>
            <a:ext cx="3730752" cy="1207008"/>
          </a:xfrm>
          <a:prstGeom prst="roundRect">
            <a:avLst>
              <a:gd name="adj" fmla="val 6818"/>
            </a:avLst>
          </a:prstGeom>
          <a:solidFill>
            <a:srgbClr val="16283A"/>
          </a:solidFill>
          <a:ln w="12700">
            <a:solidFill>
              <a:srgbClr val="27405A"/>
            </a:solidFill>
            <a:prstDash val="solid"/>
          </a:ln>
        </p:spPr>
      </p:sp>
      <p:sp>
        <p:nvSpPr>
          <p:cNvPr id="22" name="Text 20"/>
          <p:cNvSpPr/>
          <p:nvPr/>
        </p:nvSpPr>
        <p:spPr>
          <a:xfrm>
            <a:off x="8046720" y="5212080"/>
            <a:ext cx="365760" cy="320040"/>
          </a:xfrm>
          <a:prstGeom prst="rect">
            <a:avLst/>
          </a:prstGeom>
          <a:noFill/>
          <a:ln/>
        </p:spPr>
        <p:txBody>
          <a:bodyPr wrap="square" lIns="0" tIns="0" rIns="0" bIns="0" rtlCol="0" anchor="ctr"/>
          <a:lstStyle/>
          <a:p>
            <a:pPr indent="0" marL="0">
              <a:buNone/>
            </a:pPr>
            <a:r>
              <a:rPr lang="en-US" sz="1200" dirty="0">
                <a:solidFill>
                  <a:srgbClr val="7FB7A3"/>
                </a:solidFill>
                <a:latin typeface="Courier New" pitchFamily="34" charset="0"/>
                <a:ea typeface="Courier New" pitchFamily="34" charset="-122"/>
                <a:cs typeface="Courier New" pitchFamily="34" charset="-120"/>
              </a:rPr>
              <a:t>3</a:t>
            </a:r>
            <a:endParaRPr lang="en-US" sz="1200" dirty="0"/>
          </a:p>
        </p:txBody>
      </p:sp>
      <p:sp>
        <p:nvSpPr>
          <p:cNvPr id="23" name="Text 21"/>
          <p:cNvSpPr/>
          <p:nvPr/>
        </p:nvSpPr>
        <p:spPr>
          <a:xfrm>
            <a:off x="8458200" y="5212080"/>
            <a:ext cx="2743200" cy="320040"/>
          </a:xfrm>
          <a:prstGeom prst="rect">
            <a:avLst/>
          </a:prstGeom>
          <a:noFill/>
          <a:ln/>
        </p:spPr>
        <p:txBody>
          <a:bodyPr wrap="square" lIns="0" tIns="0" rIns="0" bIns="0" rtlCol="0" anchor="t"/>
          <a:lstStyle/>
          <a:p>
            <a:pPr algn="l" indent="0" marL="0">
              <a:lnSpc>
                <a:spcPts val="1846"/>
              </a:lnSpc>
              <a:buNone/>
            </a:pPr>
            <a:r>
              <a:rPr lang="en-US" sz="1300" b="1" dirty="0">
                <a:solidFill>
                  <a:srgbClr val="EDF2F0"/>
                </a:solidFill>
                <a:latin typeface="Calibri" pitchFamily="34" charset="0"/>
                <a:ea typeface="Calibri" pitchFamily="34" charset="-122"/>
                <a:cs typeface="Calibri" pitchFamily="34" charset="-120"/>
              </a:rPr>
              <a:t>Bank</a:t>
            </a:r>
            <a:endParaRPr lang="en-US" sz="1300" dirty="0"/>
          </a:p>
        </p:txBody>
      </p:sp>
      <p:sp>
        <p:nvSpPr>
          <p:cNvPr id="24" name="Text 22"/>
          <p:cNvSpPr/>
          <p:nvPr/>
        </p:nvSpPr>
        <p:spPr>
          <a:xfrm>
            <a:off x="8046720" y="5596128"/>
            <a:ext cx="3154680" cy="548640"/>
          </a:xfrm>
          <a:prstGeom prst="rect">
            <a:avLst/>
          </a:prstGeom>
          <a:noFill/>
          <a:ln/>
        </p:spPr>
        <p:txBody>
          <a:bodyPr wrap="square" lIns="0" tIns="0" rIns="0" bIns="0" rtlCol="0" anchor="t"/>
          <a:lstStyle/>
          <a:p>
            <a:pPr algn="l" indent="0" marL="0">
              <a:lnSpc>
                <a:spcPts val="1491"/>
              </a:lnSpc>
              <a:buNone/>
            </a:pPr>
            <a:r>
              <a:rPr lang="en-US" sz="1050" dirty="0">
                <a:solidFill>
                  <a:srgbClr val="9FB3AD"/>
                </a:solidFill>
                <a:latin typeface="Calibri" pitchFamily="34" charset="0"/>
                <a:ea typeface="Calibri" pitchFamily="34" charset="-122"/>
                <a:cs typeface="Calibri" pitchFamily="34" charset="-120"/>
              </a:rPr>
              <a:t>Til slutt, når det finnes en referanse å vise til.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RISIKO, ÅPENT</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13</a:t>
            </a:r>
            <a:endParaRPr lang="en-US" sz="900" dirty="0"/>
          </a:p>
        </p:txBody>
      </p:sp>
      <p:sp>
        <p:nvSpPr>
          <p:cNvPr id="4" name="Text 2"/>
          <p:cNvSpPr/>
          <p:nvPr/>
        </p:nvSpPr>
        <p:spPr>
          <a:xfrm>
            <a:off x="685800" y="868680"/>
            <a:ext cx="10424160" cy="868680"/>
          </a:xfrm>
          <a:prstGeom prst="rect">
            <a:avLst/>
          </a:prstGeom>
          <a:noFill/>
          <a:ln/>
        </p:spPr>
        <p:txBody>
          <a:bodyPr wrap="square" lIns="0" tIns="0" rIns="0" bIns="0" rtlCol="0" anchor="t"/>
          <a:lstStyle/>
          <a:p>
            <a:pPr indent="0" marL="0">
              <a:lnSpc>
                <a:spcPts val="3068"/>
              </a:lnSpc>
              <a:buNone/>
            </a:pPr>
            <a:r>
              <a:rPr lang="en-US" sz="2600" b="1" dirty="0">
                <a:solidFill>
                  <a:srgbClr val="EDF2F0"/>
                </a:solidFill>
                <a:latin typeface="Georgia" pitchFamily="34" charset="0"/>
                <a:ea typeface="Georgia" pitchFamily="34" charset="-122"/>
                <a:cs typeface="Georgia" pitchFamily="34" charset="-120"/>
              </a:rPr>
              <a:t>Vi vil heller bli avvist på en riktig innvending</a:t>
            </a:r>
            <a:endParaRPr lang="en-US" sz="2600" dirty="0"/>
          </a:p>
          <a:p>
            <a:pPr indent="0" marL="0">
              <a:lnSpc>
                <a:spcPts val="3068"/>
              </a:lnSpc>
              <a:buNone/>
            </a:pPr>
            <a:r>
              <a:rPr lang="en-US" sz="2600" b="1" dirty="0">
                <a:solidFill>
                  <a:srgbClr val="EDF2F0"/>
                </a:solidFill>
                <a:latin typeface="Georgia" pitchFamily="34" charset="0"/>
                <a:ea typeface="Georgia" pitchFamily="34" charset="-122"/>
                <a:cs typeface="Georgia" pitchFamily="34" charset="-120"/>
              </a:rPr>
              <a:t>enn tatt inn på et feil inntrykk</a:t>
            </a:r>
            <a:endParaRPr lang="en-US" sz="2600" dirty="0"/>
          </a:p>
        </p:txBody>
      </p:sp>
      <p:sp>
        <p:nvSpPr>
          <p:cNvPr id="5" name="Text 3"/>
          <p:cNvSpPr/>
          <p:nvPr/>
        </p:nvSpPr>
        <p:spPr>
          <a:xfrm>
            <a:off x="685800" y="2240280"/>
            <a:ext cx="365760" cy="365760"/>
          </a:xfrm>
          <a:prstGeom prst="rect">
            <a:avLst/>
          </a:prstGeom>
          <a:noFill/>
          <a:ln/>
        </p:spPr>
        <p:txBody>
          <a:bodyPr wrap="square" lIns="0" tIns="0" rIns="0" bIns="0" rtlCol="0" anchor="ctr"/>
          <a:lstStyle/>
          <a:p>
            <a:pPr indent="0" marL="0">
              <a:buNone/>
            </a:pPr>
            <a:r>
              <a:rPr lang="en-US" sz="1100" dirty="0">
                <a:solidFill>
                  <a:srgbClr val="D9777B"/>
                </a:solidFill>
                <a:latin typeface="Courier New" pitchFamily="34" charset="0"/>
                <a:ea typeface="Courier New" pitchFamily="34" charset="-122"/>
                <a:cs typeface="Courier New" pitchFamily="34" charset="-120"/>
              </a:rPr>
              <a:t>1</a:t>
            </a:r>
            <a:endParaRPr lang="en-US" sz="1100" dirty="0"/>
          </a:p>
        </p:txBody>
      </p:sp>
      <p:sp>
        <p:nvSpPr>
          <p:cNvPr id="6" name="Text 4"/>
          <p:cNvSpPr/>
          <p:nvPr/>
        </p:nvSpPr>
        <p:spPr>
          <a:xfrm>
            <a:off x="1097280" y="2258568"/>
            <a:ext cx="4480560" cy="658368"/>
          </a:xfrm>
          <a:prstGeom prst="rect">
            <a:avLst/>
          </a:prstGeom>
          <a:noFill/>
          <a:ln/>
        </p:spPr>
        <p:txBody>
          <a:bodyPr wrap="square" lIns="0" tIns="0" rIns="0" bIns="0" rtlCol="0" anchor="t"/>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Null brukere.</a:t>
            </a:r>
            <a:endParaRPr lang="en-US" sz="1250" dirty="0"/>
          </a:p>
        </p:txBody>
      </p:sp>
      <p:sp>
        <p:nvSpPr>
          <p:cNvPr id="7" name="Text 5"/>
          <p:cNvSpPr/>
          <p:nvPr/>
        </p:nvSpPr>
        <p:spPr>
          <a:xfrm>
            <a:off x="5806440" y="2258568"/>
            <a:ext cx="5669280" cy="685800"/>
          </a:xfrm>
          <a:prstGeom prst="rect">
            <a:avLst/>
          </a:prstGeom>
          <a:noFill/>
          <a:ln/>
        </p:spPr>
        <p:txBody>
          <a:bodyPr wrap="square" lIns="0" tIns="0" rIns="0" bIns="0" rtlCol="0" anchor="t"/>
          <a:lstStyle/>
          <a:p>
            <a:pPr algn="l" indent="0" marL="0">
              <a:lnSpc>
                <a:spcPts val="1562"/>
              </a:lnSpc>
              <a:buNone/>
            </a:pPr>
            <a:r>
              <a:rPr lang="en-US" sz="1100" dirty="0">
                <a:solidFill>
                  <a:srgbClr val="9FB3AD"/>
                </a:solidFill>
                <a:latin typeface="Calibri" pitchFamily="34" charset="0"/>
                <a:ea typeface="Calibri" pitchFamily="34" charset="-122"/>
                <a:cs typeface="Calibri" pitchFamily="34" charset="-120"/>
              </a:rPr>
              <a:t>Hele produktprioriteringen hviler på research, ikke på observert atferd hos norske brukere. Den svakeste antakelsen i alt vi har skrevet.</a:t>
            </a:r>
            <a:endParaRPr lang="en-US" sz="1100" dirty="0"/>
          </a:p>
        </p:txBody>
      </p:sp>
      <p:sp>
        <p:nvSpPr>
          <p:cNvPr id="8" name="Text 6"/>
          <p:cNvSpPr/>
          <p:nvPr/>
        </p:nvSpPr>
        <p:spPr>
          <a:xfrm>
            <a:off x="685800" y="2990088"/>
            <a:ext cx="365760" cy="365760"/>
          </a:xfrm>
          <a:prstGeom prst="rect">
            <a:avLst/>
          </a:prstGeom>
          <a:noFill/>
          <a:ln/>
        </p:spPr>
        <p:txBody>
          <a:bodyPr wrap="square" lIns="0" tIns="0" rIns="0" bIns="0" rtlCol="0" anchor="ctr"/>
          <a:lstStyle/>
          <a:p>
            <a:pPr indent="0" marL="0">
              <a:buNone/>
            </a:pPr>
            <a:r>
              <a:rPr lang="en-US" sz="1100" dirty="0">
                <a:solidFill>
                  <a:srgbClr val="D9777B"/>
                </a:solidFill>
                <a:latin typeface="Courier New" pitchFamily="34" charset="0"/>
                <a:ea typeface="Courier New" pitchFamily="34" charset="-122"/>
                <a:cs typeface="Courier New" pitchFamily="34" charset="-120"/>
              </a:rPr>
              <a:t>2</a:t>
            </a:r>
            <a:endParaRPr lang="en-US" sz="1100" dirty="0"/>
          </a:p>
        </p:txBody>
      </p:sp>
      <p:sp>
        <p:nvSpPr>
          <p:cNvPr id="9" name="Text 7"/>
          <p:cNvSpPr/>
          <p:nvPr/>
        </p:nvSpPr>
        <p:spPr>
          <a:xfrm>
            <a:off x="1097280" y="3008376"/>
            <a:ext cx="4480560" cy="658368"/>
          </a:xfrm>
          <a:prstGeom prst="rect">
            <a:avLst/>
          </a:prstGeom>
          <a:noFill/>
          <a:ln/>
        </p:spPr>
        <p:txBody>
          <a:bodyPr wrap="square" lIns="0" tIns="0" rIns="0" bIns="0" rtlCol="0" anchor="t"/>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Ingen juridiske punkter lest i primærkilde.</a:t>
            </a:r>
            <a:endParaRPr lang="en-US" sz="1250" dirty="0"/>
          </a:p>
        </p:txBody>
      </p:sp>
      <p:sp>
        <p:nvSpPr>
          <p:cNvPr id="10" name="Text 8"/>
          <p:cNvSpPr/>
          <p:nvPr/>
        </p:nvSpPr>
        <p:spPr>
          <a:xfrm>
            <a:off x="5806440" y="3008376"/>
            <a:ext cx="5669280" cy="685800"/>
          </a:xfrm>
          <a:prstGeom prst="rect">
            <a:avLst/>
          </a:prstGeom>
          <a:noFill/>
          <a:ln/>
        </p:spPr>
        <p:txBody>
          <a:bodyPr wrap="square" lIns="0" tIns="0" rIns="0" bIns="0" rtlCol="0" anchor="t"/>
          <a:lstStyle/>
          <a:p>
            <a:pPr algn="l" indent="0" marL="0">
              <a:lnSpc>
                <a:spcPts val="1562"/>
              </a:lnSpc>
              <a:buNone/>
            </a:pPr>
            <a:r>
              <a:rPr lang="en-US" sz="1100" dirty="0">
                <a:solidFill>
                  <a:srgbClr val="9FB3AD"/>
                </a:solidFill>
                <a:latin typeface="Calibri" pitchFamily="34" charset="0"/>
                <a:ea typeface="Calibri" pitchFamily="34" charset="-122"/>
                <a:cs typeface="Calibri" pitchFamily="34" charset="-120"/>
              </a:rPr>
              <a:t>Lovdata svarer 403 på automatisk henting. Alt om arveloven, vergemålsloven og forsikringsformidling må verifiseres av jurist før det brukes i avtale eller markedsføring.</a:t>
            </a:r>
            <a:endParaRPr lang="en-US" sz="1100" dirty="0"/>
          </a:p>
        </p:txBody>
      </p:sp>
      <p:sp>
        <p:nvSpPr>
          <p:cNvPr id="11" name="Text 9"/>
          <p:cNvSpPr/>
          <p:nvPr/>
        </p:nvSpPr>
        <p:spPr>
          <a:xfrm>
            <a:off x="685800" y="3739896"/>
            <a:ext cx="365760" cy="365760"/>
          </a:xfrm>
          <a:prstGeom prst="rect">
            <a:avLst/>
          </a:prstGeom>
          <a:noFill/>
          <a:ln/>
        </p:spPr>
        <p:txBody>
          <a:bodyPr wrap="square" lIns="0" tIns="0" rIns="0" bIns="0" rtlCol="0" anchor="ctr"/>
          <a:lstStyle/>
          <a:p>
            <a:pPr indent="0" marL="0">
              <a:buNone/>
            </a:pPr>
            <a:r>
              <a:rPr lang="en-US" sz="1100" dirty="0">
                <a:solidFill>
                  <a:srgbClr val="D9777B"/>
                </a:solidFill>
                <a:latin typeface="Courier New" pitchFamily="34" charset="0"/>
                <a:ea typeface="Courier New" pitchFamily="34" charset="-122"/>
                <a:cs typeface="Courier New" pitchFamily="34" charset="-120"/>
              </a:rPr>
              <a:t>3</a:t>
            </a:r>
            <a:endParaRPr lang="en-US" sz="1100" dirty="0"/>
          </a:p>
        </p:txBody>
      </p:sp>
      <p:sp>
        <p:nvSpPr>
          <p:cNvPr id="12" name="Text 10"/>
          <p:cNvSpPr/>
          <p:nvPr/>
        </p:nvSpPr>
        <p:spPr>
          <a:xfrm>
            <a:off x="1097280" y="3758184"/>
            <a:ext cx="4480560" cy="658368"/>
          </a:xfrm>
          <a:prstGeom prst="rect">
            <a:avLst/>
          </a:prstGeom>
          <a:noFill/>
          <a:ln/>
        </p:spPr>
        <p:txBody>
          <a:bodyPr wrap="square" lIns="0" tIns="0" rIns="0" bIns="0" rtlCol="0" anchor="t"/>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Åtte åpne punkter blokkerer enhver signatur.</a:t>
            </a:r>
            <a:endParaRPr lang="en-US" sz="1250" dirty="0"/>
          </a:p>
        </p:txBody>
      </p:sp>
      <p:sp>
        <p:nvSpPr>
          <p:cNvPr id="13" name="Text 11"/>
          <p:cNvSpPr/>
          <p:nvPr/>
        </p:nvSpPr>
        <p:spPr>
          <a:xfrm>
            <a:off x="5806440" y="3758184"/>
            <a:ext cx="5669280" cy="685800"/>
          </a:xfrm>
          <a:prstGeom prst="rect">
            <a:avLst/>
          </a:prstGeom>
          <a:noFill/>
          <a:ln/>
        </p:spPr>
        <p:txBody>
          <a:bodyPr wrap="square" lIns="0" tIns="0" rIns="0" bIns="0" rtlCol="0" anchor="t"/>
          <a:lstStyle/>
          <a:p>
            <a:pPr algn="l" indent="0" marL="0">
              <a:lnSpc>
                <a:spcPts val="1562"/>
              </a:lnSpc>
              <a:buNone/>
            </a:pPr>
            <a:r>
              <a:rPr lang="en-US" sz="1100" dirty="0">
                <a:solidFill>
                  <a:srgbClr val="9FB3AD"/>
                </a:solidFill>
                <a:latin typeface="Calibri" pitchFamily="34" charset="0"/>
                <a:ea typeface="Calibri" pitchFamily="34" charset="-122"/>
                <a:cs typeface="Calibri" pitchFamily="34" charset="-120"/>
              </a:rPr>
              <a:t>Behandlingsansvarlig enhet, ekstern pen-test, navngitte saksbehandlere med responstid, RTO/RPO, databehandleravtaler, exit-plan, IdP-test, Maskinporten-hjemmel. Ingen av dem lukkes med kode.</a:t>
            </a:r>
            <a:endParaRPr lang="en-US" sz="1100" dirty="0"/>
          </a:p>
        </p:txBody>
      </p:sp>
      <p:sp>
        <p:nvSpPr>
          <p:cNvPr id="14" name="Text 12"/>
          <p:cNvSpPr/>
          <p:nvPr/>
        </p:nvSpPr>
        <p:spPr>
          <a:xfrm>
            <a:off x="685800" y="4489704"/>
            <a:ext cx="365760" cy="365760"/>
          </a:xfrm>
          <a:prstGeom prst="rect">
            <a:avLst/>
          </a:prstGeom>
          <a:noFill/>
          <a:ln/>
        </p:spPr>
        <p:txBody>
          <a:bodyPr wrap="square" lIns="0" tIns="0" rIns="0" bIns="0" rtlCol="0" anchor="ctr"/>
          <a:lstStyle/>
          <a:p>
            <a:pPr indent="0" marL="0">
              <a:buNone/>
            </a:pPr>
            <a:r>
              <a:rPr lang="en-US" sz="1100" dirty="0">
                <a:solidFill>
                  <a:srgbClr val="D9777B"/>
                </a:solidFill>
                <a:latin typeface="Courier New" pitchFamily="34" charset="0"/>
                <a:ea typeface="Courier New" pitchFamily="34" charset="-122"/>
                <a:cs typeface="Courier New" pitchFamily="34" charset="-120"/>
              </a:rPr>
              <a:t>4</a:t>
            </a:r>
            <a:endParaRPr lang="en-US" sz="1100" dirty="0"/>
          </a:p>
        </p:txBody>
      </p:sp>
      <p:sp>
        <p:nvSpPr>
          <p:cNvPr id="15" name="Text 13"/>
          <p:cNvSpPr/>
          <p:nvPr/>
        </p:nvSpPr>
        <p:spPr>
          <a:xfrm>
            <a:off x="1097280" y="4507992"/>
            <a:ext cx="4480560" cy="658368"/>
          </a:xfrm>
          <a:prstGeom prst="rect">
            <a:avLst/>
          </a:prstGeom>
          <a:noFill/>
          <a:ln/>
        </p:spPr>
        <p:txBody>
          <a:bodyPr wrap="square" lIns="0" tIns="0" rIns="0" bIns="0" rtlCol="0" anchor="t"/>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Avhengighet av at én motpart sier ja.</a:t>
            </a:r>
            <a:endParaRPr lang="en-US" sz="1250" dirty="0"/>
          </a:p>
        </p:txBody>
      </p:sp>
      <p:sp>
        <p:nvSpPr>
          <p:cNvPr id="16" name="Text 14"/>
          <p:cNvSpPr/>
          <p:nvPr/>
        </p:nvSpPr>
        <p:spPr>
          <a:xfrm>
            <a:off x="5806440" y="4507992"/>
            <a:ext cx="5669280" cy="685800"/>
          </a:xfrm>
          <a:prstGeom prst="rect">
            <a:avLst/>
          </a:prstGeom>
          <a:noFill/>
          <a:ln/>
        </p:spPr>
        <p:txBody>
          <a:bodyPr wrap="square" lIns="0" tIns="0" rIns="0" bIns="0" rtlCol="0" anchor="t"/>
          <a:lstStyle/>
          <a:p>
            <a:pPr algn="l" indent="0" marL="0">
              <a:lnSpc>
                <a:spcPts val="1562"/>
              </a:lnSpc>
              <a:buNone/>
            </a:pPr>
            <a:r>
              <a:rPr lang="en-US" sz="1100" dirty="0">
                <a:solidFill>
                  <a:srgbClr val="9FB3AD"/>
                </a:solidFill>
                <a:latin typeface="Calibri" pitchFamily="34" charset="0"/>
                <a:ea typeface="Calibri" pitchFamily="34" charset="-122"/>
                <a:cs typeface="Calibri" pitchFamily="34" charset="-120"/>
              </a:rPr>
              <a:t>B2B2C forutsetter en partner. Vi har ingen ennå. Derfor er medlemsorganisasjon-sporet lagt foran forsikringssporet.</a:t>
            </a:r>
            <a:endParaRPr lang="en-US" sz="1100" dirty="0"/>
          </a:p>
        </p:txBody>
      </p:sp>
      <p:sp>
        <p:nvSpPr>
          <p:cNvPr id="17" name="Text 15"/>
          <p:cNvSpPr/>
          <p:nvPr/>
        </p:nvSpPr>
        <p:spPr>
          <a:xfrm>
            <a:off x="685800" y="5239512"/>
            <a:ext cx="365760" cy="365760"/>
          </a:xfrm>
          <a:prstGeom prst="rect">
            <a:avLst/>
          </a:prstGeom>
          <a:noFill/>
          <a:ln/>
        </p:spPr>
        <p:txBody>
          <a:bodyPr wrap="square" lIns="0" tIns="0" rIns="0" bIns="0" rtlCol="0" anchor="ctr"/>
          <a:lstStyle/>
          <a:p>
            <a:pPr indent="0" marL="0">
              <a:buNone/>
            </a:pPr>
            <a:r>
              <a:rPr lang="en-US" sz="1100" dirty="0">
                <a:solidFill>
                  <a:srgbClr val="D9777B"/>
                </a:solidFill>
                <a:latin typeface="Courier New" pitchFamily="34" charset="0"/>
                <a:ea typeface="Courier New" pitchFamily="34" charset="-122"/>
                <a:cs typeface="Courier New" pitchFamily="34" charset="-120"/>
              </a:rPr>
              <a:t>5</a:t>
            </a:r>
            <a:endParaRPr lang="en-US" sz="1100" dirty="0"/>
          </a:p>
        </p:txBody>
      </p:sp>
      <p:sp>
        <p:nvSpPr>
          <p:cNvPr id="18" name="Text 16"/>
          <p:cNvSpPr/>
          <p:nvPr/>
        </p:nvSpPr>
        <p:spPr>
          <a:xfrm>
            <a:off x="1097280" y="5257800"/>
            <a:ext cx="4480560" cy="658368"/>
          </a:xfrm>
          <a:prstGeom prst="rect">
            <a:avLst/>
          </a:prstGeom>
          <a:noFill/>
          <a:ln/>
        </p:spPr>
        <p:txBody>
          <a:bodyPr wrap="square" lIns="0" tIns="0" rIns="0" bIns="0" rtlCol="0" anchor="t"/>
          <a:lstStyle/>
          <a:p>
            <a:pPr algn="l" indent="0" marL="0">
              <a:lnSpc>
                <a:spcPts val="1775"/>
              </a:lnSpc>
              <a:buNone/>
            </a:pPr>
            <a:r>
              <a:rPr lang="en-US" sz="1250" b="1" dirty="0">
                <a:solidFill>
                  <a:srgbClr val="EDF2F0"/>
                </a:solidFill>
                <a:latin typeface="Calibri" pitchFamily="34" charset="0"/>
                <a:ea typeface="Calibri" pitchFamily="34" charset="-122"/>
                <a:cs typeface="Calibri" pitchFamily="34" charset="-120"/>
              </a:rPr>
              <a:t>Fire øyne krever to bemannede mennesker, hele tiden.</a:t>
            </a:r>
            <a:endParaRPr lang="en-US" sz="1250" dirty="0"/>
          </a:p>
        </p:txBody>
      </p:sp>
      <p:sp>
        <p:nvSpPr>
          <p:cNvPr id="19" name="Text 17"/>
          <p:cNvSpPr/>
          <p:nvPr/>
        </p:nvSpPr>
        <p:spPr>
          <a:xfrm>
            <a:off x="5806440" y="5257800"/>
            <a:ext cx="5669280" cy="685800"/>
          </a:xfrm>
          <a:prstGeom prst="rect">
            <a:avLst/>
          </a:prstGeom>
          <a:noFill/>
          <a:ln/>
        </p:spPr>
        <p:txBody>
          <a:bodyPr wrap="square" lIns="0" tIns="0" rIns="0" bIns="0" rtlCol="0" anchor="t"/>
          <a:lstStyle/>
          <a:p>
            <a:pPr algn="l" indent="0" marL="0">
              <a:lnSpc>
                <a:spcPts val="1562"/>
              </a:lnSpc>
              <a:buNone/>
            </a:pPr>
            <a:r>
              <a:rPr lang="en-US" sz="1100" dirty="0">
                <a:solidFill>
                  <a:srgbClr val="9FB3AD"/>
                </a:solidFill>
                <a:latin typeface="Calibri" pitchFamily="34" charset="0"/>
                <a:ea typeface="Calibri" pitchFamily="34" charset="-122"/>
                <a:cs typeface="Calibri" pitchFamily="34" charset="-120"/>
              </a:rPr>
              <a:t>Tilsiktet, og det kan ikke løses teknisk. Ferie og sykdom må stå i avtalen. Et dødsfall venter ikke.</a:t>
            </a:r>
            <a:endParaRPr lang="en-US" sz="1100" dirty="0"/>
          </a:p>
        </p:txBody>
      </p:sp>
      <p:sp>
        <p:nvSpPr>
          <p:cNvPr id="20" name="Text 18"/>
          <p:cNvSpPr/>
          <p:nvPr/>
        </p:nvSpPr>
        <p:spPr>
          <a:xfrm>
            <a:off x="685800" y="5989320"/>
            <a:ext cx="9966960" cy="548640"/>
          </a:xfrm>
          <a:prstGeom prst="rect">
            <a:avLst/>
          </a:prstGeom>
          <a:noFill/>
          <a:ln/>
        </p:spPr>
        <p:txBody>
          <a:bodyPr wrap="square" lIns="0" tIns="0" rIns="0" bIns="0" rtlCol="0" anchor="t"/>
          <a:lstStyle/>
          <a:p>
            <a:pPr algn="l" indent="0" marL="0">
              <a:lnSpc>
                <a:spcPts val="1633"/>
              </a:lnSpc>
              <a:buNone/>
            </a:pPr>
            <a:r>
              <a:rPr lang="en-US" sz="1150" dirty="0">
                <a:solidFill>
                  <a:srgbClr val="EDF2F0"/>
                </a:solidFill>
                <a:latin typeface="Calibri" pitchFamily="34" charset="0"/>
                <a:ea typeface="Calibri" pitchFamily="34" charset="-122"/>
                <a:cs typeface="Calibri" pitchFamily="34" charset="-120"/>
              </a:rPr>
              <a:t>Ni av de ti postene kan lukkes med penger, tid og en jurist. Post 1 kan ikke løses fra skrivebordet — det er den eneste risikoen som blir større av at vi bygger mer.</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B25"/>
        </a:solidFill>
      </p:bgPr>
    </p:bg>
    <p:spTree>
      <p:nvGrpSpPr>
        <p:cNvPr id="1" name=""/>
        <p:cNvGrpSpPr/>
        <p:nvPr/>
      </p:nvGrpSpPr>
      <p:grpSpPr>
        <a:xfrm>
          <a:off x="0" y="0"/>
          <a:ext cx="0" cy="0"/>
          <a:chOff x="0" y="0"/>
          <a:chExt cx="0" cy="0"/>
        </a:xfrm>
      </p:grpSpPr>
      <p:sp>
        <p:nvSpPr>
          <p:cNvPr id="2" name="Text 0"/>
          <p:cNvSpPr/>
          <p:nvPr/>
        </p:nvSpPr>
        <p:spPr>
          <a:xfrm>
            <a:off x="685800" y="365760"/>
            <a:ext cx="10820095" cy="256032"/>
          </a:xfrm>
          <a:prstGeom prst="rect">
            <a:avLst/>
          </a:prstGeom>
          <a:noFill/>
          <a:ln/>
        </p:spPr>
        <p:txBody>
          <a:bodyPr wrap="square" lIns="0" tIns="0" rIns="0" bIns="0" rtlCol="0" anchor="ctr"/>
          <a:lstStyle/>
          <a:p>
            <a:pPr indent="0" marL="0">
              <a:buNone/>
            </a:pPr>
            <a:r>
              <a:rPr lang="en-US" sz="1000" spc="200" kern="0" dirty="0">
                <a:solidFill>
                  <a:srgbClr val="7FB7A3"/>
                </a:solidFill>
                <a:latin typeface="Courier New" pitchFamily="34" charset="0"/>
                <a:ea typeface="Courier New" pitchFamily="34" charset="-122"/>
                <a:cs typeface="Courier New" pitchFamily="34" charset="-120"/>
              </a:rPr>
              <a:t>HVA VI SØKER</a:t>
            </a:r>
            <a:endParaRPr lang="en-US" sz="1000" dirty="0"/>
          </a:p>
        </p:txBody>
      </p:sp>
      <p:sp>
        <p:nvSpPr>
          <p:cNvPr id="3" name="Text 1"/>
          <p:cNvSpPr/>
          <p:nvPr/>
        </p:nvSpPr>
        <p:spPr>
          <a:xfrm>
            <a:off x="10957255" y="6355080"/>
            <a:ext cx="548640" cy="256032"/>
          </a:xfrm>
          <a:prstGeom prst="rect">
            <a:avLst/>
          </a:prstGeom>
          <a:noFill/>
          <a:ln/>
        </p:spPr>
        <p:txBody>
          <a:bodyPr wrap="square" lIns="0" tIns="0" rIns="0" bIns="0" rtlCol="0" anchor="ctr"/>
          <a:lstStyle/>
          <a:p>
            <a:pPr algn="r" indent="0" marL="0">
              <a:buNone/>
            </a:pPr>
            <a:r>
              <a:rPr lang="en-US" sz="900" dirty="0">
                <a:solidFill>
                  <a:srgbClr val="27405A"/>
                </a:solidFill>
                <a:latin typeface="Courier New" pitchFamily="34" charset="0"/>
                <a:ea typeface="Courier New" pitchFamily="34" charset="-122"/>
                <a:cs typeface="Courier New" pitchFamily="34" charset="-120"/>
              </a:rPr>
              <a:t>14</a:t>
            </a:r>
            <a:endParaRPr lang="en-US" sz="900" dirty="0"/>
          </a:p>
        </p:txBody>
      </p:sp>
      <p:sp>
        <p:nvSpPr>
          <p:cNvPr id="4" name="Text 2"/>
          <p:cNvSpPr/>
          <p:nvPr/>
        </p:nvSpPr>
        <p:spPr>
          <a:xfrm>
            <a:off x="685800" y="868680"/>
            <a:ext cx="10424160" cy="868680"/>
          </a:xfrm>
          <a:prstGeom prst="rect">
            <a:avLst/>
          </a:prstGeom>
          <a:noFill/>
          <a:ln/>
        </p:spPr>
        <p:txBody>
          <a:bodyPr wrap="square" lIns="0" tIns="0" rIns="0" bIns="0" rtlCol="0" anchor="t"/>
          <a:lstStyle/>
          <a:p>
            <a:pPr indent="0" marL="0">
              <a:lnSpc>
                <a:spcPts val="3068"/>
              </a:lnSpc>
              <a:buNone/>
            </a:pPr>
            <a:r>
              <a:rPr lang="en-US" sz="2600" b="1" dirty="0">
                <a:solidFill>
                  <a:srgbClr val="EDF2F0"/>
                </a:solidFill>
                <a:latin typeface="Georgia" pitchFamily="34" charset="0"/>
                <a:ea typeface="Georgia" pitchFamily="34" charset="-122"/>
                <a:cs typeface="Georgia" pitchFamily="34" charset="-120"/>
              </a:rPr>
              <a:t>Systemet er bygget. Det som står mellom</a:t>
            </a:r>
            <a:endParaRPr lang="en-US" sz="2600" dirty="0"/>
          </a:p>
          <a:p>
            <a:pPr indent="0" marL="0">
              <a:lnSpc>
                <a:spcPts val="3068"/>
              </a:lnSpc>
              <a:buNone/>
            </a:pPr>
            <a:r>
              <a:rPr lang="en-US" sz="2600" b="1" dirty="0">
                <a:solidFill>
                  <a:srgbClr val="EDF2F0"/>
                </a:solidFill>
                <a:latin typeface="Georgia" pitchFamily="34" charset="0"/>
                <a:ea typeface="Georgia" pitchFamily="34" charset="-122"/>
                <a:cs typeface="Georgia" pitchFamily="34" charset="-120"/>
              </a:rPr>
              <a:t>«kode klar» og «tatt i bruk» er tre ting</a:t>
            </a:r>
            <a:endParaRPr lang="en-US" sz="2600" dirty="0"/>
          </a:p>
        </p:txBody>
      </p:sp>
      <p:sp>
        <p:nvSpPr>
          <p:cNvPr id="5" name="Shape 3"/>
          <p:cNvSpPr/>
          <p:nvPr/>
        </p:nvSpPr>
        <p:spPr>
          <a:xfrm>
            <a:off x="685800" y="2468880"/>
            <a:ext cx="3419856" cy="2011680"/>
          </a:xfrm>
          <a:prstGeom prst="roundRect">
            <a:avLst>
              <a:gd name="adj" fmla="val 4091"/>
            </a:avLst>
          </a:prstGeom>
          <a:solidFill>
            <a:srgbClr val="16283A"/>
          </a:solidFill>
          <a:ln w="12700">
            <a:solidFill>
              <a:srgbClr val="27405A"/>
            </a:solidFill>
            <a:prstDash val="solid"/>
          </a:ln>
        </p:spPr>
      </p:sp>
      <p:sp>
        <p:nvSpPr>
          <p:cNvPr id="6" name="Text 4"/>
          <p:cNvSpPr/>
          <p:nvPr/>
        </p:nvSpPr>
        <p:spPr>
          <a:xfrm>
            <a:off x="960120" y="2697480"/>
            <a:ext cx="457200" cy="274320"/>
          </a:xfrm>
          <a:prstGeom prst="rect">
            <a:avLst/>
          </a:prstGeom>
          <a:noFill/>
          <a:ln/>
        </p:spPr>
        <p:txBody>
          <a:bodyPr wrap="square" lIns="0" tIns="0" rIns="0" bIns="0" rtlCol="0" anchor="ctr"/>
          <a:lstStyle/>
          <a:p>
            <a:pPr indent="0" marL="0">
              <a:buNone/>
            </a:pPr>
            <a:r>
              <a:rPr lang="en-US" sz="1100" dirty="0">
                <a:solidFill>
                  <a:srgbClr val="7FB7A3"/>
                </a:solidFill>
                <a:latin typeface="Courier New" pitchFamily="34" charset="0"/>
                <a:ea typeface="Courier New" pitchFamily="34" charset="-122"/>
                <a:cs typeface="Courier New" pitchFamily="34" charset="-120"/>
              </a:rPr>
              <a:t>1</a:t>
            </a:r>
            <a:endParaRPr lang="en-US" sz="1100" dirty="0"/>
          </a:p>
        </p:txBody>
      </p:sp>
      <p:sp>
        <p:nvSpPr>
          <p:cNvPr id="7" name="Text 5"/>
          <p:cNvSpPr/>
          <p:nvPr/>
        </p:nvSpPr>
        <p:spPr>
          <a:xfrm>
            <a:off x="960120" y="3063240"/>
            <a:ext cx="2871216" cy="320040"/>
          </a:xfrm>
          <a:prstGeom prst="rect">
            <a:avLst/>
          </a:prstGeom>
          <a:noFill/>
          <a:ln/>
        </p:spPr>
        <p:txBody>
          <a:bodyPr wrap="square" lIns="0" tIns="0" rIns="0" bIns="0" rtlCol="0" anchor="t"/>
          <a:lstStyle/>
          <a:p>
            <a:pPr algn="l" indent="0" marL="0">
              <a:lnSpc>
                <a:spcPts val="1988"/>
              </a:lnSpc>
              <a:buNone/>
            </a:pPr>
            <a:r>
              <a:rPr lang="en-US" sz="1400" b="1" dirty="0">
                <a:solidFill>
                  <a:srgbClr val="EDF2F0"/>
                </a:solidFill>
                <a:latin typeface="Calibri" pitchFamily="34" charset="0"/>
                <a:ea typeface="Calibri" pitchFamily="34" charset="-122"/>
                <a:cs typeface="Calibri" pitchFamily="34" charset="-120"/>
              </a:rPr>
              <a:t>Juridisk avklaring</a:t>
            </a:r>
            <a:endParaRPr lang="en-US" sz="1400" dirty="0"/>
          </a:p>
        </p:txBody>
      </p:sp>
      <p:sp>
        <p:nvSpPr>
          <p:cNvPr id="8" name="Text 6"/>
          <p:cNvSpPr/>
          <p:nvPr/>
        </p:nvSpPr>
        <p:spPr>
          <a:xfrm>
            <a:off x="960120" y="3474720"/>
            <a:ext cx="2871216" cy="868680"/>
          </a:xfrm>
          <a:prstGeom prst="rect">
            <a:avLst/>
          </a:prstGeom>
          <a:noFill/>
          <a:ln/>
        </p:spPr>
        <p:txBody>
          <a:bodyPr wrap="square" lIns="0" tIns="0" rIns="0" bIns="0" rtlCol="0" anchor="t"/>
          <a:lstStyle/>
          <a:p>
            <a:pPr algn="l" indent="0" marL="0">
              <a:lnSpc>
                <a:spcPts val="1491"/>
              </a:lnSpc>
              <a:buNone/>
            </a:pPr>
            <a:r>
              <a:rPr lang="en-US" sz="1050" dirty="0">
                <a:solidFill>
                  <a:srgbClr val="9FB3AD"/>
                </a:solidFill>
                <a:latin typeface="Calibri" pitchFamily="34" charset="0"/>
                <a:ea typeface="Calibri" pitchFamily="34" charset="-122"/>
                <a:cs typeface="Calibri" pitchFamily="34" charset="-120"/>
              </a:rPr>
              <a:t>Behandlingsansvarlig enhet, jurist på de tolv spørsmålene i jurist-briefen, databehandleravtaler. Dette blokkerer alt annet.</a:t>
            </a:r>
            <a:endParaRPr lang="en-US" sz="1050" dirty="0"/>
          </a:p>
        </p:txBody>
      </p:sp>
      <p:sp>
        <p:nvSpPr>
          <p:cNvPr id="9" name="Shape 7"/>
          <p:cNvSpPr/>
          <p:nvPr/>
        </p:nvSpPr>
        <p:spPr>
          <a:xfrm>
            <a:off x="4379976" y="2468880"/>
            <a:ext cx="3419856" cy="2011680"/>
          </a:xfrm>
          <a:prstGeom prst="roundRect">
            <a:avLst>
              <a:gd name="adj" fmla="val 4091"/>
            </a:avLst>
          </a:prstGeom>
          <a:solidFill>
            <a:srgbClr val="16283A"/>
          </a:solidFill>
          <a:ln w="12700">
            <a:solidFill>
              <a:srgbClr val="27405A"/>
            </a:solidFill>
            <a:prstDash val="solid"/>
          </a:ln>
        </p:spPr>
      </p:sp>
      <p:sp>
        <p:nvSpPr>
          <p:cNvPr id="10" name="Text 8"/>
          <p:cNvSpPr/>
          <p:nvPr/>
        </p:nvSpPr>
        <p:spPr>
          <a:xfrm>
            <a:off x="4654296" y="2697480"/>
            <a:ext cx="457200" cy="274320"/>
          </a:xfrm>
          <a:prstGeom prst="rect">
            <a:avLst/>
          </a:prstGeom>
          <a:noFill/>
          <a:ln/>
        </p:spPr>
        <p:txBody>
          <a:bodyPr wrap="square" lIns="0" tIns="0" rIns="0" bIns="0" rtlCol="0" anchor="ctr"/>
          <a:lstStyle/>
          <a:p>
            <a:pPr indent="0" marL="0">
              <a:buNone/>
            </a:pPr>
            <a:r>
              <a:rPr lang="en-US" sz="1100" dirty="0">
                <a:solidFill>
                  <a:srgbClr val="7FB7A3"/>
                </a:solidFill>
                <a:latin typeface="Courier New" pitchFamily="34" charset="0"/>
                <a:ea typeface="Courier New" pitchFamily="34" charset="-122"/>
                <a:cs typeface="Courier New" pitchFamily="34" charset="-120"/>
              </a:rPr>
              <a:t>2</a:t>
            </a:r>
            <a:endParaRPr lang="en-US" sz="1100" dirty="0"/>
          </a:p>
        </p:txBody>
      </p:sp>
      <p:sp>
        <p:nvSpPr>
          <p:cNvPr id="11" name="Text 9"/>
          <p:cNvSpPr/>
          <p:nvPr/>
        </p:nvSpPr>
        <p:spPr>
          <a:xfrm>
            <a:off x="4654296" y="3063240"/>
            <a:ext cx="2871216" cy="320040"/>
          </a:xfrm>
          <a:prstGeom prst="rect">
            <a:avLst/>
          </a:prstGeom>
          <a:noFill/>
          <a:ln/>
        </p:spPr>
        <p:txBody>
          <a:bodyPr wrap="square" lIns="0" tIns="0" rIns="0" bIns="0" rtlCol="0" anchor="t"/>
          <a:lstStyle/>
          <a:p>
            <a:pPr algn="l" indent="0" marL="0">
              <a:lnSpc>
                <a:spcPts val="1988"/>
              </a:lnSpc>
              <a:buNone/>
            </a:pPr>
            <a:r>
              <a:rPr lang="en-US" sz="1400" b="1" dirty="0">
                <a:solidFill>
                  <a:srgbClr val="EDF2F0"/>
                </a:solidFill>
                <a:latin typeface="Calibri" pitchFamily="34" charset="0"/>
                <a:ea typeface="Calibri" pitchFamily="34" charset="-122"/>
                <a:cs typeface="Calibri" pitchFamily="34" charset="-120"/>
              </a:rPr>
              <a:t>Ekstern penetrasjonstest</a:t>
            </a:r>
            <a:endParaRPr lang="en-US" sz="1400" dirty="0"/>
          </a:p>
        </p:txBody>
      </p:sp>
      <p:sp>
        <p:nvSpPr>
          <p:cNvPr id="12" name="Text 10"/>
          <p:cNvSpPr/>
          <p:nvPr/>
        </p:nvSpPr>
        <p:spPr>
          <a:xfrm>
            <a:off x="4654296" y="3474720"/>
            <a:ext cx="2871216" cy="868680"/>
          </a:xfrm>
          <a:prstGeom prst="rect">
            <a:avLst/>
          </a:prstGeom>
          <a:noFill/>
          <a:ln/>
        </p:spPr>
        <p:txBody>
          <a:bodyPr wrap="square" lIns="0" tIns="0" rIns="0" bIns="0" rtlCol="0" anchor="t"/>
          <a:lstStyle/>
          <a:p>
            <a:pPr algn="l" indent="0" marL="0">
              <a:lnSpc>
                <a:spcPts val="1491"/>
              </a:lnSpc>
              <a:buNone/>
            </a:pPr>
            <a:r>
              <a:rPr lang="en-US" sz="1050" dirty="0">
                <a:solidFill>
                  <a:srgbClr val="9FB3AD"/>
                </a:solidFill>
                <a:latin typeface="Calibri" pitchFamily="34" charset="0"/>
                <a:ea typeface="Calibri" pitchFamily="34" charset="-122"/>
                <a:cs typeface="Calibri" pitchFamily="34" charset="-120"/>
              </a:rPr>
              <a:t>Ingen compliance-funksjon i et forsikringsselskap slipper oss gjennom uten. Rapporten legges frem uredigert.</a:t>
            </a:r>
            <a:endParaRPr lang="en-US" sz="1050" dirty="0"/>
          </a:p>
        </p:txBody>
      </p:sp>
      <p:sp>
        <p:nvSpPr>
          <p:cNvPr id="13" name="Shape 11"/>
          <p:cNvSpPr/>
          <p:nvPr/>
        </p:nvSpPr>
        <p:spPr>
          <a:xfrm>
            <a:off x="8074152" y="2468880"/>
            <a:ext cx="3419856" cy="2011680"/>
          </a:xfrm>
          <a:prstGeom prst="roundRect">
            <a:avLst>
              <a:gd name="adj" fmla="val 4091"/>
            </a:avLst>
          </a:prstGeom>
          <a:solidFill>
            <a:srgbClr val="16283A"/>
          </a:solidFill>
          <a:ln w="12700">
            <a:solidFill>
              <a:srgbClr val="27405A"/>
            </a:solidFill>
            <a:prstDash val="solid"/>
          </a:ln>
        </p:spPr>
      </p:sp>
      <p:sp>
        <p:nvSpPr>
          <p:cNvPr id="14" name="Text 12"/>
          <p:cNvSpPr/>
          <p:nvPr/>
        </p:nvSpPr>
        <p:spPr>
          <a:xfrm>
            <a:off x="8348472" y="2697480"/>
            <a:ext cx="457200" cy="274320"/>
          </a:xfrm>
          <a:prstGeom prst="rect">
            <a:avLst/>
          </a:prstGeom>
          <a:noFill/>
          <a:ln/>
        </p:spPr>
        <p:txBody>
          <a:bodyPr wrap="square" lIns="0" tIns="0" rIns="0" bIns="0" rtlCol="0" anchor="ctr"/>
          <a:lstStyle/>
          <a:p>
            <a:pPr indent="0" marL="0">
              <a:buNone/>
            </a:pPr>
            <a:r>
              <a:rPr lang="en-US" sz="1100" dirty="0">
                <a:solidFill>
                  <a:srgbClr val="7FB7A3"/>
                </a:solidFill>
                <a:latin typeface="Courier New" pitchFamily="34" charset="0"/>
                <a:ea typeface="Courier New" pitchFamily="34" charset="-122"/>
                <a:cs typeface="Courier New" pitchFamily="34" charset="-120"/>
              </a:rPr>
              <a:t>3</a:t>
            </a:r>
            <a:endParaRPr lang="en-US" sz="1100" dirty="0"/>
          </a:p>
        </p:txBody>
      </p:sp>
      <p:sp>
        <p:nvSpPr>
          <p:cNvPr id="15" name="Text 13"/>
          <p:cNvSpPr/>
          <p:nvPr/>
        </p:nvSpPr>
        <p:spPr>
          <a:xfrm>
            <a:off x="8348472" y="3063240"/>
            <a:ext cx="2871216" cy="320040"/>
          </a:xfrm>
          <a:prstGeom prst="rect">
            <a:avLst/>
          </a:prstGeom>
          <a:noFill/>
          <a:ln/>
        </p:spPr>
        <p:txBody>
          <a:bodyPr wrap="square" lIns="0" tIns="0" rIns="0" bIns="0" rtlCol="0" anchor="t"/>
          <a:lstStyle/>
          <a:p>
            <a:pPr algn="l" indent="0" marL="0">
              <a:lnSpc>
                <a:spcPts val="1988"/>
              </a:lnSpc>
              <a:buNone/>
            </a:pPr>
            <a:r>
              <a:rPr lang="en-US" sz="1400" b="1" dirty="0">
                <a:solidFill>
                  <a:srgbClr val="EDF2F0"/>
                </a:solidFill>
                <a:latin typeface="Calibri" pitchFamily="34" charset="0"/>
                <a:ea typeface="Calibri" pitchFamily="34" charset="-122"/>
                <a:cs typeface="Calibri" pitchFamily="34" charset="-120"/>
              </a:rPr>
              <a:t>Distribusjon</a:t>
            </a:r>
            <a:endParaRPr lang="en-US" sz="1400" dirty="0"/>
          </a:p>
        </p:txBody>
      </p:sp>
      <p:sp>
        <p:nvSpPr>
          <p:cNvPr id="16" name="Text 14"/>
          <p:cNvSpPr/>
          <p:nvPr/>
        </p:nvSpPr>
        <p:spPr>
          <a:xfrm>
            <a:off x="8348472" y="3474720"/>
            <a:ext cx="2871216" cy="868680"/>
          </a:xfrm>
          <a:prstGeom prst="rect">
            <a:avLst/>
          </a:prstGeom>
          <a:noFill/>
          <a:ln/>
        </p:spPr>
        <p:txBody>
          <a:bodyPr wrap="square" lIns="0" tIns="0" rIns="0" bIns="0" rtlCol="0" anchor="t"/>
          <a:lstStyle/>
          <a:p>
            <a:pPr algn="l" indent="0" marL="0">
              <a:lnSpc>
                <a:spcPts val="1491"/>
              </a:lnSpc>
              <a:buNone/>
            </a:pPr>
            <a:r>
              <a:rPr lang="en-US" sz="1050" dirty="0">
                <a:solidFill>
                  <a:srgbClr val="9FB3AD"/>
                </a:solidFill>
                <a:latin typeface="Calibri" pitchFamily="34" charset="0"/>
                <a:ea typeface="Calibri" pitchFamily="34" charset="-122"/>
                <a:cs typeface="Calibri" pitchFamily="34" charset="-120"/>
              </a:rPr>
              <a:t>Én kanalavtale som gir de første tusen brukerne. Er det ett sted en investor med nettverk er verdt mer enn kapitalen, er det her.</a:t>
            </a:r>
            <a:endParaRPr lang="en-US" sz="1050" dirty="0"/>
          </a:p>
        </p:txBody>
      </p:sp>
      <p:sp>
        <p:nvSpPr>
          <p:cNvPr id="17" name="Text 15"/>
          <p:cNvSpPr/>
          <p:nvPr/>
        </p:nvSpPr>
        <p:spPr>
          <a:xfrm>
            <a:off x="685800" y="4754880"/>
            <a:ext cx="10424160" cy="1005840"/>
          </a:xfrm>
          <a:prstGeom prst="rect">
            <a:avLst/>
          </a:prstGeom>
          <a:noFill/>
          <a:ln/>
        </p:spPr>
        <p:txBody>
          <a:bodyPr wrap="square" lIns="0" tIns="0" rIns="0" bIns="0" rtlCol="0" anchor="t"/>
          <a:lstStyle/>
          <a:p>
            <a:pPr algn="l" indent="0" marL="0">
              <a:lnSpc>
                <a:spcPts val="2556"/>
              </a:lnSpc>
              <a:buNone/>
            </a:pPr>
            <a:r>
              <a:rPr lang="en-US" sz="1800" dirty="0">
                <a:solidFill>
                  <a:srgbClr val="EDF2F0"/>
                </a:solidFill>
                <a:latin typeface="Georgia" pitchFamily="34" charset="0"/>
                <a:ea typeface="Georgia" pitchFamily="34" charset="-122"/>
                <a:cs typeface="Georgia" pitchFamily="34" charset="-120"/>
              </a:rPr>
              <a:t>Det vi ber om i første omgang er ikke en term sheet. Det er at du sier hva du mener er galt med dette — og, hvis du kjenner noen, én introduksjon til en medlemsorganisasjon eller et livsforsikringsselskap.</a:t>
            </a:r>
            <a:endParaRPr lang="en-US" sz="1800" dirty="0"/>
          </a:p>
        </p:txBody>
      </p:sp>
      <p:sp>
        <p:nvSpPr>
          <p:cNvPr id="18" name="Text 16"/>
          <p:cNvSpPr/>
          <p:nvPr/>
        </p:nvSpPr>
        <p:spPr>
          <a:xfrm>
            <a:off x="685800" y="5897880"/>
            <a:ext cx="10424160" cy="411480"/>
          </a:xfrm>
          <a:prstGeom prst="rect">
            <a:avLst/>
          </a:prstGeom>
          <a:noFill/>
          <a:ln/>
        </p:spPr>
        <p:txBody>
          <a:bodyPr wrap="square" lIns="0" tIns="0" rIns="0" bIns="0" rtlCol="0" anchor="t"/>
          <a:lstStyle/>
          <a:p>
            <a:pPr algn="l" indent="0" marL="0">
              <a:lnSpc>
                <a:spcPts val="1988"/>
              </a:lnSpc>
              <a:buNone/>
            </a:pPr>
            <a:r>
              <a:rPr lang="en-US" sz="1400" i="1" dirty="0">
                <a:solidFill>
                  <a:srgbClr val="7FB7A3"/>
                </a:solidFill>
                <a:latin typeface="Calibri" pitchFamily="34" charset="0"/>
                <a:ea typeface="Calibri" pitchFamily="34" charset="-122"/>
                <a:cs typeface="Calibri" pitchFamily="34" charset="-120"/>
              </a:rPr>
              <a:t>Vi vil heller ha en riktig innvending nå enn et ja vi ikke kan innfri.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Livsarkivet — investordekk</dc:title>
  <dc:subject>PptxGenJS Presentation</dc:subject>
  <dc:creator>Livsarkivet</dc:creator>
  <cp:lastModifiedBy>Livsarkivet</cp:lastModifiedBy>
  <cp:revision>1</cp:revision>
  <dcterms:created xsi:type="dcterms:W3CDTF">2026-07-28T18:45:46Z</dcterms:created>
  <dcterms:modified xsi:type="dcterms:W3CDTF">2026-07-28T18:45:46Z</dcterms:modified>
</cp:coreProperties>
</file>